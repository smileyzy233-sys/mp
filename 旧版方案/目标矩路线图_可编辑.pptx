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277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617E-2AC1-C30E-C290-39D989CD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82985-1DC6-A1B8-6E14-18E25631B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C51F0-CEDB-D5BD-445B-B929C0990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9EE73-FB14-9A5D-92D3-A985D2DD1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54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企业层面识别与制度型 MP 成本反演：目标矩路线图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29768" y="621792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核心目标矩：用企业数据得到的外资生产份额变化，匹配模型局部响应中的份额变化，反推出制度型 MP 成本变化。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1016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60704"/>
            <a:ext cx="6583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数据侧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3456432"/>
            <a:ext cx="786384" cy="256032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016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3493008"/>
            <a:ext cx="6583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模型侧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882396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277063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目标矩汇合点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21408" y="1833372"/>
            <a:ext cx="137160" cy="0"/>
          </a:xfrm>
          <a:prstGeom prst="line">
            <a:avLst/>
          </a:prstGeom>
          <a:noFill/>
          <a:ln w="1714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50208" y="1833372"/>
            <a:ext cx="137160" cy="0"/>
          </a:xfrm>
          <a:prstGeom prst="line">
            <a:avLst/>
          </a:prstGeom>
          <a:noFill/>
          <a:ln w="1714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79008" y="1833372"/>
            <a:ext cx="137160" cy="0"/>
          </a:xfrm>
          <a:prstGeom prst="line">
            <a:avLst/>
          </a:prstGeom>
          <a:noFill/>
          <a:ln w="1714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07808" y="1833372"/>
            <a:ext cx="137160" cy="0"/>
          </a:xfrm>
          <a:prstGeom prst="line">
            <a:avLst/>
          </a:prstGeom>
          <a:noFill/>
          <a:ln w="1714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21408" y="4302252"/>
            <a:ext cx="137160" cy="0"/>
          </a:xfrm>
          <a:prstGeom prst="line">
            <a:avLst/>
          </a:prstGeom>
          <a:noFill/>
          <a:ln w="1714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950208" y="4302252"/>
            <a:ext cx="137160" cy="0"/>
          </a:xfrm>
          <a:prstGeom prst="line">
            <a:avLst/>
          </a:prstGeom>
          <a:noFill/>
          <a:ln w="1714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779008" y="4302252"/>
            <a:ext cx="137160" cy="0"/>
          </a:xfrm>
          <a:prstGeom prst="line">
            <a:avLst/>
          </a:prstGeom>
          <a:noFill/>
          <a:ln w="1714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07808" y="4302252"/>
            <a:ext cx="137160" cy="0"/>
          </a:xfrm>
          <a:prstGeom prst="line">
            <a:avLst/>
          </a:prstGeom>
          <a:noFill/>
          <a:ln w="1714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04504" y="2404872"/>
            <a:ext cx="0" cy="1271016"/>
          </a:xfrm>
          <a:prstGeom prst="line">
            <a:avLst/>
          </a:prstGeom>
          <a:noFill/>
          <a:ln w="1905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00616" y="4302252"/>
            <a:ext cx="210312" cy="0"/>
          </a:xfrm>
          <a:prstGeom prst="line">
            <a:avLst/>
          </a:prstGeom>
          <a:noFill/>
          <a:ln w="20320">
            <a:solidFill>
              <a:srgbClr val="6D28D9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02920" y="13533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政策编码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政策单元 u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六类限制 P_{u,t}^r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31720" y="13533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行业映射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GB4 → ISIC4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限定候选集合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60520" y="13533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企业匹配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主营业务 s_ft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匹配政策单元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89320" y="13533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微观估计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 → 外资行为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 beta_r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18120" y="135331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数据目标矩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ΔM_data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固定基期权重汇总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候选成本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 ΔIMPC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保持其他成本不变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317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局部响应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固定工资/价格/需求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只重算生产地选择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605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⑧ 模型目标矩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ΔM_model(ΔIMPC)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模型外资生产份额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893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⑨ 匹配反演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ΔIMPC*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使两类目标矩最接近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181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目标矩准则
</a:t>
            </a: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 |ΔM_model − ΔM_data|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反推制度型 MP 成本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02368" y="3273552"/>
            <a:ext cx="1938528" cy="2066544"/>
          </a:xfrm>
          <a:prstGeom prst="roundRect">
            <a:avLst>
              <a:gd name="adj" fmla="val 3774"/>
            </a:avLst>
          </a:prstGeom>
          <a:solidFill>
            <a:srgbClr val="F5F3FF"/>
          </a:solidFill>
          <a:ln w="15240">
            <a:solidFill>
              <a:srgbClr val="6D28D9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⑩ 一般均衡反事实
</a:t>
            </a: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结构模型冲击
</a:t>
            </a:r>
            <a:r>
              <a:rPr lang="en-US" sz="10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hgamma = (ΔIMPC*)^eta
对外国企业在华生产、全部行业施加同一比例冲击
</a:t>
            </a: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完整求解结果
</a:t>
            </a:r>
            <a:r>
              <a:rPr lang="en-US" sz="104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生产份额、三边流量、价格、工资、利润、创新与福利变化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2920" y="5705856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815584"/>
            <a:ext cx="10835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一句话：先用企业面板估计“政策限制导致的外资生产份额变化 ΔM_data”，再在模型中寻找能够复制该份额变化的 ΔIMPC*，最后把 ΔIMPC* 转换为 hgamma 进入一般均衡反事实。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512064" y="6355080"/>
            <a:ext cx="107899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符号：u=政策编码单元；r=六类限制；f=企业；M=全国层面外国企业在华生产份额；eta=经验成本到结构楔子的转换弹性。</a:t>
            </a:r>
            <a:endParaRPr lang="en-US" sz="8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29069-E8C1-4995-17B7-64924507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844A11-DD32-9A13-0B47-6BE367382487}"/>
              </a:ext>
            </a:extLst>
          </p:cNvPr>
          <p:cNvSpPr/>
          <p:nvPr/>
        </p:nvSpPr>
        <p:spPr>
          <a:xfrm>
            <a:off x="411480" y="182880"/>
            <a:ext cx="8778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企业层面识别与制度型 MP 成本反演：目标矩路线图</a:t>
            </a:r>
            <a:endParaRPr lang="en-US" sz="25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5759AD-3A1D-9E7D-BDC9-DCB3FFC2267A}"/>
              </a:ext>
            </a:extLst>
          </p:cNvPr>
          <p:cNvSpPr/>
          <p:nvPr/>
        </p:nvSpPr>
        <p:spPr>
          <a:xfrm>
            <a:off x="429768" y="621792"/>
            <a:ext cx="10698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核心目标矩：用企业数据得到的外资生产份额变化，匹配模型局部响应中的份额变化，反推出制度型 MP 成本变化。</a:t>
            </a:r>
            <a:endParaRPr lang="en-US" sz="11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A36A92-5699-9688-1938-4F427497CB4F}"/>
              </a:ext>
            </a:extLst>
          </p:cNvPr>
          <p:cNvSpPr/>
          <p:nvPr/>
        </p:nvSpPr>
        <p:spPr>
          <a:xfrm>
            <a:off x="411480" y="1024128"/>
            <a:ext cx="786384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0160">
            <a:solidFill>
              <a:schemeClr val="tx1">
                <a:alpha val="60000"/>
              </a:schemeClr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A6A6C2-09AA-CEB2-46DC-5F4322214F0B}"/>
              </a:ext>
            </a:extLst>
          </p:cNvPr>
          <p:cNvSpPr/>
          <p:nvPr/>
        </p:nvSpPr>
        <p:spPr>
          <a:xfrm>
            <a:off x="475488" y="1060704"/>
            <a:ext cx="6583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数据侧</a:t>
            </a:r>
            <a:endParaRPr lang="en-US" sz="10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8AA94FA-7052-5C78-2991-49DBAF54DD9B}"/>
              </a:ext>
            </a:extLst>
          </p:cNvPr>
          <p:cNvSpPr/>
          <p:nvPr/>
        </p:nvSpPr>
        <p:spPr>
          <a:xfrm>
            <a:off x="411480" y="3456432"/>
            <a:ext cx="786384" cy="256032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0160">
            <a:solidFill>
              <a:schemeClr val="tx1">
                <a:alpha val="60000"/>
              </a:schemeClr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F7A350-5836-87DE-AC84-F6AC3FAD510A}"/>
              </a:ext>
            </a:extLst>
          </p:cNvPr>
          <p:cNvSpPr/>
          <p:nvPr/>
        </p:nvSpPr>
        <p:spPr>
          <a:xfrm>
            <a:off x="475488" y="3493008"/>
            <a:ext cx="6583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模型侧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5528A1A-C6DF-410C-D855-A2C308C6EC38}"/>
              </a:ext>
            </a:extLst>
          </p:cNvPr>
          <p:cNvSpPr/>
          <p:nvPr/>
        </p:nvSpPr>
        <p:spPr>
          <a:xfrm>
            <a:off x="7086600" y="2710777"/>
            <a:ext cx="1463040" cy="48005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目标矩汇合点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0BF3CDD-9B72-D604-3835-2E744DA67BAE}"/>
              </a:ext>
            </a:extLst>
          </p:cNvPr>
          <p:cNvSpPr/>
          <p:nvPr/>
        </p:nvSpPr>
        <p:spPr>
          <a:xfrm>
            <a:off x="2121408" y="183337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5249411-4C47-1E64-97E1-40AF9F8D956B}"/>
              </a:ext>
            </a:extLst>
          </p:cNvPr>
          <p:cNvSpPr/>
          <p:nvPr/>
        </p:nvSpPr>
        <p:spPr>
          <a:xfrm>
            <a:off x="3950208" y="183337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A0F0D39-BB3B-B948-10D3-474F793D2286}"/>
              </a:ext>
            </a:extLst>
          </p:cNvPr>
          <p:cNvSpPr/>
          <p:nvPr/>
        </p:nvSpPr>
        <p:spPr>
          <a:xfrm>
            <a:off x="5779008" y="183337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140B60F-0D89-99DD-F219-2071A1EBDACF}"/>
              </a:ext>
            </a:extLst>
          </p:cNvPr>
          <p:cNvSpPr/>
          <p:nvPr/>
        </p:nvSpPr>
        <p:spPr>
          <a:xfrm>
            <a:off x="7607808" y="183337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B6F4F86-1BE1-8743-85C5-FC492E331B84}"/>
              </a:ext>
            </a:extLst>
          </p:cNvPr>
          <p:cNvSpPr/>
          <p:nvPr/>
        </p:nvSpPr>
        <p:spPr>
          <a:xfrm>
            <a:off x="2121408" y="430225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49FA96AE-0AFA-3976-560D-5C7607DC14AF}"/>
              </a:ext>
            </a:extLst>
          </p:cNvPr>
          <p:cNvSpPr/>
          <p:nvPr/>
        </p:nvSpPr>
        <p:spPr>
          <a:xfrm>
            <a:off x="3950208" y="430225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CDEEF79-5D2B-D739-7AD5-B4F34BBFFB5C}"/>
              </a:ext>
            </a:extLst>
          </p:cNvPr>
          <p:cNvSpPr/>
          <p:nvPr/>
        </p:nvSpPr>
        <p:spPr>
          <a:xfrm>
            <a:off x="5779008" y="430225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CFEB57-368D-3F0D-72C7-3758D7C07244}"/>
              </a:ext>
            </a:extLst>
          </p:cNvPr>
          <p:cNvSpPr/>
          <p:nvPr/>
        </p:nvSpPr>
        <p:spPr>
          <a:xfrm>
            <a:off x="7607808" y="4302252"/>
            <a:ext cx="137160" cy="0"/>
          </a:xfrm>
          <a:prstGeom prst="line">
            <a:avLst/>
          </a:prstGeom>
          <a:noFill/>
          <a:ln w="1714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24D2FC9-E6AB-A92F-1A1D-01BA3F9E37E0}"/>
              </a:ext>
            </a:extLst>
          </p:cNvPr>
          <p:cNvSpPr/>
          <p:nvPr/>
        </p:nvSpPr>
        <p:spPr>
          <a:xfrm>
            <a:off x="8604504" y="2404872"/>
            <a:ext cx="0" cy="1271016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D007293-0B05-EFED-2F22-26CD8BBB51CF}"/>
              </a:ext>
            </a:extLst>
          </p:cNvPr>
          <p:cNvSpPr/>
          <p:nvPr/>
        </p:nvSpPr>
        <p:spPr>
          <a:xfrm>
            <a:off x="9500616" y="4302252"/>
            <a:ext cx="210312" cy="0"/>
          </a:xfrm>
          <a:prstGeom prst="line">
            <a:avLst/>
          </a:prstGeom>
          <a:noFill/>
          <a:ln w="20320">
            <a:solidFill>
              <a:schemeClr val="tx1"/>
            </a:solidFill>
            <a:prstDash val="solid"/>
            <a:tailEnd type="triangl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677C05D8-CC56-3D92-AEB5-A4F37B37FF78}"/>
                  </a:ext>
                </a:extLst>
              </p:cNvPr>
              <p:cNvSpPr/>
              <p:nvPr/>
            </p:nvSpPr>
            <p:spPr>
              <a:xfrm>
                <a:off x="5029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solidFill>
                <a:schemeClr val="bg1"/>
              </a:solidFill>
              <a:ln w="15240">
                <a:solidFill>
                  <a:schemeClr val="tx1"/>
                </a:solidFill>
              </a:ln>
            </p:spPr>
            <p:txBody>
              <a:bodyPr wrap="square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1.</a:t>
                </a:r>
                <a:r>
                  <a:rPr 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政策编码</a:t>
                </a:r>
                <a:r>
                  <a:rPr lang="en-US" sz="1400" b="1" dirty="0">
                    <a:solidFill>
                      <a:srgbClr val="2563EB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
</a:t>
                </a:r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政策单元 u</a:t>
                </a:r>
                <a:endParaRPr 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r>
                  <a:rPr lang="en-US" sz="1400" dirty="0" err="1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六类限制</a:t>
                </a:r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Microsoft YaHei" pitchFamily="34" charset="-122"/>
                          </a:rPr>
                        </m:ctrlPr>
                      </m:sSubSupPr>
                      <m:e>
                        <m: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Microsoft YaHei" pitchFamily="34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Microsoft YaHei" pitchFamily="34" charset="-122"/>
                          </a:rPr>
                          <m:t>𝑢𝑡</m:t>
                        </m:r>
                      </m:sub>
                      <m:sup>
                        <m: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Microsoft YaHei" pitchFamily="34" charset="-122"/>
                          </a:rPr>
                          <m:t>𝑟</m:t>
                        </m:r>
                      </m:sup>
                    </m:sSubSup>
                    <m:r>
                      <a:rPr lang="en-US" sz="1400" i="1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Microsoft YaHei" pitchFamily="34" charset="-122"/>
                        <a:cs typeface="Microsoft YaHei" pitchFamily="34" charset="-120"/>
                      </a:rPr>
                      <m:t>。</m:t>
                    </m:r>
                  </m:oMath>
                </a14:m>
                <a:endParaRPr 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0" name="Text 18">
                <a:extLst>
                  <a:ext uri="{FF2B5EF4-FFF2-40B4-BE49-F238E27FC236}">
                    <a16:creationId xmlns:a16="http://schemas.microsoft.com/office/drawing/2014/main" id="{677C05D8-CC56-3D92-AEB5-A4F37B37F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19">
            <a:extLst>
              <a:ext uri="{FF2B5EF4-FFF2-40B4-BE49-F238E27FC236}">
                <a16:creationId xmlns:a16="http://schemas.microsoft.com/office/drawing/2014/main" id="{9D2A67D0-1EFC-CBF3-2662-FB899D7F7E37}"/>
              </a:ext>
            </a:extLst>
          </p:cNvPr>
          <p:cNvSpPr/>
          <p:nvPr/>
        </p:nvSpPr>
        <p:spPr>
          <a:xfrm>
            <a:off x="2331720" y="1353312"/>
            <a:ext cx="157276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240">
            <a:solidFill>
              <a:schemeClr val="tx1"/>
            </a:solidFill>
          </a:ln>
        </p:spPr>
        <p:txBody>
          <a:bodyPr wrap="square" rtlCol="0" anchor="ctr">
            <a:normAutofit fontScale="92500" lnSpcReduction="10000"/>
          </a:bodyPr>
          <a:lstStyle/>
          <a:p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2.</a:t>
            </a:r>
            <a:r>
              <a:rPr 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行业映射</a:t>
            </a: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r>
              <a:rPr lang="zh-CN" altLang="en-US" sz="16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国民经济行业标准小类</a:t>
            </a:r>
            <a:r>
              <a:rPr lang="en-US" sz="16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 → ISIC_Rev.4</a:t>
            </a:r>
            <a:r>
              <a:rPr lang="zh-CN" altLang="en-US" sz="16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小类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74734D35-D2AF-87E0-D846-9FE18A2BFD1B}"/>
                  </a:ext>
                </a:extLst>
              </p:cNvPr>
              <p:cNvSpPr/>
              <p:nvPr/>
            </p:nvSpPr>
            <p:spPr>
              <a:xfrm>
                <a:off x="41605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solidFill>
                <a:schemeClr val="bg1"/>
              </a:solidFill>
              <a:ln w="15240">
                <a:solidFill>
                  <a:schemeClr val="tx1"/>
                </a:solidFill>
              </a:ln>
            </p:spPr>
            <p:txBody>
              <a:bodyPr wrap="square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3.</a:t>
                </a:r>
                <a:r>
                  <a:rPr 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企业匹配</a:t>
                </a:r>
                <a:r>
                  <a:rPr lang="en-US" sz="1400" b="1" dirty="0">
                    <a:solidFill>
                      <a:srgbClr val="2563EB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
</a:t>
                </a:r>
                <a:r>
                  <a:rPr lang="en-US" sz="1400" dirty="0" err="1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主营业务</a:t>
                </a:r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s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𝑓𝑡</m:t>
                        </m:r>
                      </m:sub>
                    </m:sSub>
                  </m:oMath>
                </a14:m>
                <a:endParaRPr 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匹配政策单元</a:t>
                </a:r>
                <a:endParaRPr 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2" name="Text 20">
                <a:extLst>
                  <a:ext uri="{FF2B5EF4-FFF2-40B4-BE49-F238E27FC236}">
                    <a16:creationId xmlns:a16="http://schemas.microsoft.com/office/drawing/2014/main" id="{74734D35-D2AF-87E0-D846-9FE18A2BF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71AB7C29-870C-7752-8CF3-5311E641162F}"/>
                  </a:ext>
                </a:extLst>
              </p:cNvPr>
              <p:cNvSpPr/>
              <p:nvPr/>
            </p:nvSpPr>
            <p:spPr>
              <a:xfrm>
                <a:off x="59893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solidFill>
                <a:schemeClr val="bg1"/>
              </a:solidFill>
              <a:ln w="1524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4.微观估计</a:t>
                </a:r>
                <a:r>
                  <a:rPr lang="en-US" sz="1400" b="1" dirty="0">
                    <a:solidFill>
                      <a:srgbClr val="2563EB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
</a:t>
                </a:r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限制 → </a:t>
                </a:r>
                <a:r>
                  <a:rPr lang="en-US" sz="1400" dirty="0" err="1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外资行为得到</a:t>
                </a:r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β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𝑟</m:t>
                        </m:r>
                      </m:sub>
                    </m:sSub>
                  </m:oMath>
                </a14:m>
                <a:endParaRPr 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3" name="Text 21">
                <a:extLst>
                  <a:ext uri="{FF2B5EF4-FFF2-40B4-BE49-F238E27FC236}">
                    <a16:creationId xmlns:a16="http://schemas.microsoft.com/office/drawing/2014/main" id="{71AB7C29-870C-7752-8CF3-5311E64116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blipFill>
                <a:blip r:embed="rId5"/>
                <a:stretch>
                  <a:fillRect/>
                </a:stretch>
              </a:blipFill>
              <a:ln w="1524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A15EAEC5-BDC2-80E3-7169-FFA73506746D}"/>
                  </a:ext>
                </a:extLst>
              </p:cNvPr>
              <p:cNvSpPr/>
              <p:nvPr/>
            </p:nvSpPr>
            <p:spPr>
              <a:xfrm>
                <a:off x="78181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solidFill>
                <a:schemeClr val="bg1"/>
              </a:solidFill>
              <a:ln w="1524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5.</a:t>
                </a:r>
                <a:r>
                  <a:rPr 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数据目标矩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data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固定基期权重汇总</a:t>
                </a:r>
                <a:endParaRPr 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4" name="Text 22">
                <a:extLst>
                  <a:ext uri="{FF2B5EF4-FFF2-40B4-BE49-F238E27FC236}">
                    <a16:creationId xmlns:a16="http://schemas.microsoft.com/office/drawing/2014/main" id="{A15EAEC5-BDC2-80E3-7169-FFA7350674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20" y="1353312"/>
                <a:ext cx="1572768" cy="960120"/>
              </a:xfrm>
              <a:prstGeom prst="roundRect">
                <a:avLst>
                  <a:gd name="adj" fmla="val 7619"/>
                </a:avLst>
              </a:prstGeom>
              <a:blipFill>
                <a:blip r:embed="rId6"/>
                <a:stretch>
                  <a:fillRect/>
                </a:stretch>
              </a:blipFill>
              <a:ln w="1524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23">
            <a:extLst>
              <a:ext uri="{FF2B5EF4-FFF2-40B4-BE49-F238E27FC236}">
                <a16:creationId xmlns:a16="http://schemas.microsoft.com/office/drawing/2014/main" id="{E90BFDB8-DFB9-29F0-42E2-3708561B03A5}"/>
              </a:ext>
            </a:extLst>
          </p:cNvPr>
          <p:cNvSpPr/>
          <p:nvPr/>
        </p:nvSpPr>
        <p:spPr>
          <a:xfrm>
            <a:off x="5029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24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6.候选成本</a:t>
            </a:r>
            <a:r>
              <a:rPr lang="en-US" sz="14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
</a:t>
            </a:r>
            <a:r>
              <a:rPr lang="en-US" sz="1400" dirty="0" err="1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给定ΔIMPC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保持其他成本不变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3C6CCB9-682B-2A7B-7FFE-472FA2B81BA7}"/>
              </a:ext>
            </a:extLst>
          </p:cNvPr>
          <p:cNvSpPr/>
          <p:nvPr/>
        </p:nvSpPr>
        <p:spPr>
          <a:xfrm>
            <a:off x="23317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24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7.局部响应</a:t>
            </a:r>
            <a:r>
              <a:rPr lang="en-US" sz="1400" b="1" dirty="0">
                <a:solidFill>
                  <a:srgbClr val="0F766E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
</a:t>
            </a:r>
            <a:r>
              <a:rPr lang="en-US" sz="14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固定工资/价格/</a:t>
            </a:r>
            <a:r>
              <a:rPr lang="en-US" sz="1400" dirty="0" err="1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需求,只重算生产地选择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BD9670B2-C2C8-B72B-1222-E0D896FACD4C}"/>
                  </a:ext>
                </a:extLst>
              </p:cNvPr>
              <p:cNvSpPr/>
              <p:nvPr/>
            </p:nvSpPr>
            <p:spPr>
              <a:xfrm>
                <a:off x="4160520" y="3822192"/>
                <a:ext cx="1572768" cy="960120"/>
              </a:xfrm>
              <a:prstGeom prst="roundRect">
                <a:avLst>
                  <a:gd name="adj" fmla="val 7619"/>
                </a:avLst>
              </a:prstGeom>
              <a:solidFill>
                <a:schemeClr val="bg1"/>
              </a:solidFill>
              <a:ln w="1524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r>
                  <a:rPr lang="en-US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8.模型目标矩</a:t>
                </a:r>
                <a:r>
                  <a:rPr lang="en-US" sz="1400" b="1" dirty="0">
                    <a:solidFill>
                      <a:srgbClr val="0F766E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
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400" b="0" i="1" smtClean="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(ΔIMPC)</a:t>
                </a:r>
                <a:r>
                  <a:rPr lang="en-US" sz="1400" dirty="0" err="1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模型外资生产份额</a:t>
                </a:r>
                <a:endParaRPr 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7" name="Text 25">
                <a:extLst>
                  <a:ext uri="{FF2B5EF4-FFF2-40B4-BE49-F238E27FC236}">
                    <a16:creationId xmlns:a16="http://schemas.microsoft.com/office/drawing/2014/main" id="{BD9670B2-C2C8-B72B-1222-E0D896FACD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0" y="3822192"/>
                <a:ext cx="1572768" cy="960120"/>
              </a:xfrm>
              <a:prstGeom prst="roundRect">
                <a:avLst>
                  <a:gd name="adj" fmla="val 7619"/>
                </a:avLst>
              </a:prstGeom>
              <a:blipFill>
                <a:blip r:embed="rId7"/>
                <a:stretch>
                  <a:fillRect b="-4348"/>
                </a:stretch>
              </a:blipFill>
              <a:ln w="1524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>
            <a:extLst>
              <a:ext uri="{FF2B5EF4-FFF2-40B4-BE49-F238E27FC236}">
                <a16:creationId xmlns:a16="http://schemas.microsoft.com/office/drawing/2014/main" id="{A8A5B66C-EAF3-65F4-DF22-5FE43E4E4618}"/>
              </a:ext>
            </a:extLst>
          </p:cNvPr>
          <p:cNvSpPr/>
          <p:nvPr/>
        </p:nvSpPr>
        <p:spPr>
          <a:xfrm>
            <a:off x="5989320" y="3822192"/>
            <a:ext cx="157276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24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9.匹配反演</a:t>
            </a:r>
            <a:r>
              <a:rPr lang="en-US" sz="1400" b="1" dirty="0">
                <a:solidFill>
                  <a:srgbClr val="B45309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
</a:t>
            </a:r>
            <a:r>
              <a:rPr lang="en-US" sz="14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选择 ΔIMPC*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使两类目标矩最接近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27">
                <a:extLst>
                  <a:ext uri="{FF2B5EF4-FFF2-40B4-BE49-F238E27FC236}">
                    <a16:creationId xmlns:a16="http://schemas.microsoft.com/office/drawing/2014/main" id="{AF2299A5-05E6-6BDB-44A8-8ADD3A3EBE8F}"/>
                  </a:ext>
                </a:extLst>
              </p:cNvPr>
              <p:cNvSpPr/>
              <p:nvPr/>
            </p:nvSpPr>
            <p:spPr>
              <a:xfrm>
                <a:off x="7818120" y="3822192"/>
                <a:ext cx="1572768" cy="960120"/>
              </a:xfrm>
              <a:prstGeom prst="roundRect">
                <a:avLst>
                  <a:gd name="adj" fmla="val 7619"/>
                </a:avLst>
              </a:prstGeom>
              <a:solidFill>
                <a:schemeClr val="bg1"/>
              </a:solidFill>
              <a:ln w="15240"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r>
                  <a:rPr lang="en-US" sz="1300" b="1" dirty="0"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目标矩准则</a:t>
                </a:r>
                <a:r>
                  <a:rPr lang="en-US" sz="1300" b="1" dirty="0">
                    <a:solidFill>
                      <a:srgbClr val="B45309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
</a:t>
                </a:r>
                <a:r>
                  <a:rPr lang="en-US" sz="13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min|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3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3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3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13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𝑚𝑜𝑑𝑒𝑙</m:t>
                        </m:r>
                      </m:sub>
                    </m:sSub>
                    <m:r>
                      <a:rPr lang="en-US" altLang="zh-CN" sz="13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300" b="0" i="0" smtClean="0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data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|</a:t>
                </a:r>
              </a:p>
              <a:p>
                <a:r>
                  <a:rPr lang="en-US" sz="1300" dirty="0" err="1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反推制度型</a:t>
                </a:r>
                <a:r>
                  <a:rPr lang="en-US" sz="1300" dirty="0">
                    <a:solidFill>
                      <a:srgbClr val="111827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Microsoft YaHei" pitchFamily="34" charset="-120"/>
                  </a:rPr>
                  <a:t> MP 成本</a:t>
                </a:r>
                <a:endParaRPr lang="en-US" sz="13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9" name="Text 27">
                <a:extLst>
                  <a:ext uri="{FF2B5EF4-FFF2-40B4-BE49-F238E27FC236}">
                    <a16:creationId xmlns:a16="http://schemas.microsoft.com/office/drawing/2014/main" id="{AF2299A5-05E6-6BDB-44A8-8ADD3A3EB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20" y="3822192"/>
                <a:ext cx="1572768" cy="960120"/>
              </a:xfrm>
              <a:prstGeom prst="roundRect">
                <a:avLst>
                  <a:gd name="adj" fmla="val 7619"/>
                </a:avLst>
              </a:prstGeom>
              <a:blipFill>
                <a:blip r:embed="rId8"/>
                <a:stretch>
                  <a:fillRect t="-5590" b="-10559"/>
                </a:stretch>
              </a:blipFill>
              <a:ln w="1524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28">
            <a:extLst>
              <a:ext uri="{FF2B5EF4-FFF2-40B4-BE49-F238E27FC236}">
                <a16:creationId xmlns:a16="http://schemas.microsoft.com/office/drawing/2014/main" id="{48A79ED6-F9A4-FB26-1D80-A5CB24EB0F17}"/>
              </a:ext>
            </a:extLst>
          </p:cNvPr>
          <p:cNvSpPr/>
          <p:nvPr/>
        </p:nvSpPr>
        <p:spPr>
          <a:xfrm>
            <a:off x="9802368" y="2621903"/>
            <a:ext cx="1947672" cy="2946793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15240"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10.一般均衡反事实</a:t>
            </a:r>
            <a:r>
              <a:rPr lang="en-US" sz="1400" b="1" dirty="0">
                <a:solidFill>
                  <a:srgbClr val="6D28D9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
</a:t>
            </a:r>
            <a:r>
              <a:rPr lang="en-US" sz="1400" b="1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结构模型冲击
</a:t>
            </a:r>
            <a:r>
              <a:rPr lang="en-US" sz="14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hgamma = (ΔIMPC*)^eta
对外国企业在华生产、全部行业施加同一比例冲击
</a:t>
            </a:r>
            <a:r>
              <a:rPr lang="en-US" sz="1400" b="1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完整求解结果
</a:t>
            </a:r>
            <a:r>
              <a:rPr lang="en-US" sz="1400" dirty="0">
                <a:solidFill>
                  <a:srgbClr val="111827"/>
                </a:solidFill>
                <a:latin typeface="宋体" panose="02010600030101010101" pitchFamily="2" charset="-122"/>
                <a:ea typeface="宋体" panose="02010600030101010101" pitchFamily="2" charset="-122"/>
                <a:cs typeface="Microsoft YaHei" pitchFamily="34" charset="-120"/>
              </a:rPr>
              <a:t>生产份额、三边流量、价格、工资、利润、创新与福利变化</a:t>
            </a:r>
            <a:endParaRPr lang="en-US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0C473FE-7E28-28ED-2695-520458357EC8}"/>
              </a:ext>
            </a:extLst>
          </p:cNvPr>
          <p:cNvSpPr/>
          <p:nvPr/>
        </p:nvSpPr>
        <p:spPr>
          <a:xfrm>
            <a:off x="502920" y="5705856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12CC990-B866-A2AD-9E73-D9ADF72AF77B}"/>
              </a:ext>
            </a:extLst>
          </p:cNvPr>
          <p:cNvSpPr/>
          <p:nvPr/>
        </p:nvSpPr>
        <p:spPr>
          <a:xfrm>
            <a:off x="685800" y="5815584"/>
            <a:ext cx="10835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一句话：先用企业面板估计“政策限制导致的外资生产份额变化 ΔM_data”，再在模型中寻找能够复制该份额变化的 ΔIMPC*，最后把 ΔIMPC* 转换为 hgamma 进入一般均衡反事实。</a:t>
            </a:r>
            <a:endParaRPr lang="en-US" sz="108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C6B1A1B-4DD8-8EFB-9F43-DF923F5B98D2}"/>
              </a:ext>
            </a:extLst>
          </p:cNvPr>
          <p:cNvSpPr/>
          <p:nvPr/>
        </p:nvSpPr>
        <p:spPr>
          <a:xfrm>
            <a:off x="512064" y="6355080"/>
            <a:ext cx="107899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5B64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符号：u=政策编码单元；r=六类限制；f=企业；M=全国层面外国企业在华生产份额；eta=经验成本到结构楔子的转换弹性。</a:t>
            </a:r>
            <a:endParaRPr lang="en-US" sz="860" dirty="0"/>
          </a:p>
        </p:txBody>
      </p:sp>
    </p:spTree>
    <p:extLst>
      <p:ext uri="{BB962C8B-B14F-4D97-AF65-F5344CB8AC3E}">
        <p14:creationId xmlns:p14="http://schemas.microsoft.com/office/powerpoint/2010/main" val="371301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370</Words>
  <Application>Microsoft Office PowerPoint</Application>
  <PresentationFormat>宽屏</PresentationFormat>
  <Paragraphs>53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Microsoft YaHei</vt:lpstr>
      <vt:lpstr>Arial</vt:lpstr>
      <vt:lpstr>Cambria Math</vt:lpstr>
      <vt:lpstr>Office Theme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目标矩路线图</dc:title>
  <dc:subject>企业层面识别与制度型MP成本反演目标矩路线图</dc:subject>
  <dc:creator>OpenAI</dc:creator>
  <cp:lastModifiedBy>镇宇 杨</cp:lastModifiedBy>
  <cp:revision>10</cp:revision>
  <dcterms:created xsi:type="dcterms:W3CDTF">2026-09-14T00:28:14Z</dcterms:created>
  <dcterms:modified xsi:type="dcterms:W3CDTF">2026-09-16T07:41:00Z</dcterms:modified>
</cp:coreProperties>
</file>