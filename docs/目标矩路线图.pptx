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98" autoAdjust="0"/>
  </p:normalViewPr>
  <p:slideViewPr>
    <p:cSldViewPr snapToGrid="0" snapToObjects="1">
      <p:cViewPr varScale="1">
        <p:scale>
          <a:sx n="61" d="100"/>
          <a:sy n="61" d="100"/>
        </p:scale>
        <p:origin x="8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2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｜图 1　企业层面识别与制度型 MP 成本反演"/>
          <p:cNvSpPr txBox="1"/>
          <p:nvPr/>
        </p:nvSpPr>
        <p:spPr>
          <a:xfrm>
            <a:off x="548640" y="329184"/>
            <a:ext cx="1357884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 b="1">
                <a:solidFill>
                  <a:srgbClr val="000000"/>
                </a:solidFill>
                <a:latin typeface="Times New Roman"/>
                <a:ea typeface="宋体"/>
              </a:rPr>
              <a:t>图 1　企业层面识别与制度型 MP 成本反演</a:t>
            </a:r>
            <a:endParaRPr lang="zh-CN" sz="2700"/>
          </a:p>
        </p:txBody>
      </p:sp>
      <p:sp>
        <p:nvSpPr>
          <p:cNvPr id="3" name="文字｜以政策引起的外资生产份额变化为目标矩，连接企业估计、"/>
          <p:cNvSpPr txBox="1"/>
          <p:nvPr/>
        </p:nvSpPr>
        <p:spPr>
          <a:xfrm>
            <a:off x="566928" y="905256"/>
            <a:ext cx="1339596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70" b="0">
                <a:solidFill>
                  <a:srgbClr val="000000"/>
                </a:solidFill>
                <a:latin typeface="Times New Roman"/>
                <a:ea typeface="宋体"/>
              </a:rPr>
              <a:t>以政策引起的外资生产份额变化为目标矩，连接企业估计、局部成本反演与一般均衡分析。</a:t>
            </a:r>
            <a:endParaRPr lang="zh-CN" sz="1470"/>
          </a:p>
        </p:txBody>
      </p:sp>
      <p:sp>
        <p:nvSpPr>
          <p:cNvPr id="5" name="文字｜01"/>
          <p:cNvSpPr txBox="1"/>
          <p:nvPr/>
        </p:nvSpPr>
        <p:spPr>
          <a:xfrm>
            <a:off x="13679424" y="7936992"/>
            <a:ext cx="402336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" b="0">
                <a:solidFill>
                  <a:srgbClr val="000000"/>
                </a:solidFill>
                <a:latin typeface="Times New Roman"/>
                <a:ea typeface="宋体"/>
              </a:rPr>
              <a:t>01</a:t>
            </a:r>
            <a:endParaRPr lang="zh-CN" sz="1080"/>
          </a:p>
        </p:txBody>
      </p:sp>
      <p:sp>
        <p:nvSpPr>
          <p:cNvPr id="6" name="文字｜A　企业数据侧"/>
          <p:cNvSpPr txBox="1"/>
          <p:nvPr/>
        </p:nvSpPr>
        <p:spPr>
          <a:xfrm>
            <a:off x="566928" y="1508760"/>
            <a:ext cx="630936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Times New Roman"/>
                <a:ea typeface="宋体"/>
              </a:rPr>
              <a:t>A　企业数据侧</a:t>
            </a:r>
            <a:endParaRPr lang="zh-CN" sz="1800"/>
          </a:p>
        </p:txBody>
      </p:sp>
      <p:sp>
        <p:nvSpPr>
          <p:cNvPr id="7" name="文字｜B　结构模型侧"/>
          <p:cNvSpPr txBox="1"/>
          <p:nvPr/>
        </p:nvSpPr>
        <p:spPr>
          <a:xfrm>
            <a:off x="7744968" y="1508760"/>
            <a:ext cx="630936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Times New Roman"/>
                <a:ea typeface="宋体"/>
              </a:rPr>
              <a:t>B　结构模型侧</a:t>
            </a:r>
            <a:endParaRPr lang="zh-CN" sz="1800"/>
          </a:p>
        </p:txBody>
      </p:sp>
      <p:grpSp>
        <p:nvGrpSpPr>
          <p:cNvPr id="8" name="节点｜01　政策编码与行业映射"/>
          <p:cNvGrpSpPr/>
          <p:nvPr/>
        </p:nvGrpSpPr>
        <p:grpSpPr>
          <a:xfrm>
            <a:off x="548640" y="1920240"/>
            <a:ext cx="6355080" cy="1005840"/>
            <a:chOff x="548640" y="1920240"/>
            <a:chExt cx="6355080" cy="1005840"/>
          </a:xfrm>
        </p:grpSpPr>
        <p:sp>
          <p:nvSpPr>
            <p:cNvPr id="9" name="01　政策编码与行业映射"/>
            <p:cNvSpPr/>
            <p:nvPr/>
          </p:nvSpPr>
          <p:spPr>
            <a:xfrm>
              <a:off x="548640" y="1920240"/>
              <a:ext cx="6355080" cy="10058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文字｜01　政策编码与行业映射"/>
            <p:cNvSpPr txBox="1"/>
            <p:nvPr/>
          </p:nvSpPr>
          <p:spPr>
            <a:xfrm>
              <a:off x="758952" y="2039112"/>
              <a:ext cx="59436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01　政策编码与行业映射</a:t>
              </a:r>
              <a:endParaRPr lang="zh-CN" sz="1700"/>
            </a:p>
          </p:txBody>
        </p:sp>
        <p:sp>
          <p:nvSpPr>
            <p:cNvPr id="11" name="文字｜年度文本拆分编码单元，记录六类准入限制。"/>
            <p:cNvSpPr txBox="1"/>
            <p:nvPr/>
          </p:nvSpPr>
          <p:spPr>
            <a:xfrm>
              <a:off x="758952" y="2359152"/>
              <a:ext cx="6144768" cy="51206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9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70" b="0" dirty="0">
                  <a:solidFill>
                    <a:srgbClr val="000000"/>
                  </a:solidFill>
                  <a:latin typeface="Times New Roman"/>
                  <a:ea typeface="宋体"/>
                </a:rPr>
                <a:t>年度文本拆分编码单元，记录六类准入限制。</a:t>
              </a:r>
              <a:endParaRPr lang="zh-CN" sz="1470" dirty="0"/>
            </a:p>
            <a:p>
              <a:pPr>
                <a:lnSpc>
                  <a:spcPts val="1925"/>
                </a:lnSpc>
              </a:pPr>
              <a:r>
                <a:rPr lang="zh-CN" altLang="en-US" sz="1470" b="0" dirty="0">
                  <a:solidFill>
                    <a:srgbClr val="000000"/>
                  </a:solidFill>
                  <a:latin typeface="Times New Roman"/>
                  <a:ea typeface="宋体"/>
                </a:rPr>
                <a:t>以</a:t>
              </a:r>
              <a:r>
                <a:rPr lang="zh-CN" altLang="en-US" sz="1400" dirty="0">
                  <a:solidFill>
                    <a:srgbClr val="111827"/>
                  </a:solidFill>
                  <a:latin typeface="宋体" panose="02010600030101010101" pitchFamily="2" charset="-122"/>
                  <a:cs typeface="Microsoft YaHei" pitchFamily="34" charset="-120"/>
                </a:rPr>
                <a:t>国民经济行业标准小类</a:t>
              </a:r>
              <a:r>
                <a:rPr lang="en-US" altLang="zh-CN" sz="1400" dirty="0">
                  <a:solidFill>
                    <a:srgbClr val="111827"/>
                  </a:solidFill>
                  <a:latin typeface="宋体" panose="02010600030101010101" pitchFamily="2" charset="-122"/>
                  <a:cs typeface="Microsoft YaHei" pitchFamily="34" charset="-120"/>
                </a:rPr>
                <a:t> → ISIC_Rev.4</a:t>
              </a:r>
              <a:r>
                <a:rPr lang="zh-CN" altLang="en-US" sz="1400" dirty="0">
                  <a:solidFill>
                    <a:srgbClr val="111827"/>
                  </a:solidFill>
                  <a:latin typeface="宋体" panose="02010600030101010101" pitchFamily="2" charset="-122"/>
                  <a:cs typeface="Microsoft YaHei" pitchFamily="34" charset="-120"/>
                </a:rPr>
                <a:t>小类</a:t>
              </a:r>
              <a:r>
                <a:rPr lang="zh-CN" altLang="en-US" sz="1470" b="0" dirty="0">
                  <a:solidFill>
                    <a:srgbClr val="000000"/>
                  </a:solidFill>
                  <a:latin typeface="Times New Roman"/>
                  <a:ea typeface="宋体"/>
                </a:rPr>
                <a:t>映射限定企业匹配的候选范围。</a:t>
              </a:r>
              <a:endParaRPr lang="zh-CN" sz="1470" dirty="0"/>
            </a:p>
          </p:txBody>
        </p:sp>
      </p:grpSp>
      <p:grpSp>
        <p:nvGrpSpPr>
          <p:cNvPr id="12" name="节点｜04　候选成本与尺度转换"/>
          <p:cNvGrpSpPr/>
          <p:nvPr/>
        </p:nvGrpSpPr>
        <p:grpSpPr>
          <a:xfrm>
            <a:off x="7726679" y="1920240"/>
            <a:ext cx="6355080" cy="1005840"/>
            <a:chOff x="7726679" y="1920240"/>
            <a:chExt cx="6355080" cy="1005840"/>
          </a:xfrm>
        </p:grpSpPr>
        <p:sp>
          <p:nvSpPr>
            <p:cNvPr id="13" name="04　候选成本与尺度转换"/>
            <p:cNvSpPr/>
            <p:nvPr/>
          </p:nvSpPr>
          <p:spPr>
            <a:xfrm>
              <a:off x="7726679" y="1920240"/>
              <a:ext cx="6355080" cy="10058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文字｜04　候选成本与尺度转换"/>
            <p:cNvSpPr txBox="1"/>
            <p:nvPr/>
          </p:nvSpPr>
          <p:spPr>
            <a:xfrm>
              <a:off x="7936992" y="2039112"/>
              <a:ext cx="59436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04　候选成本与尺度转换</a:t>
              </a:r>
              <a:endParaRPr lang="zh-CN" sz="1700"/>
            </a:p>
          </p:txBody>
        </p:sp>
        <p:sp>
          <p:nvSpPr>
            <p:cNvPr id="15" name="文字｜先固定转换参数；仅调整外国企业在华生产成本。"/>
            <p:cNvSpPr txBox="1"/>
            <p:nvPr/>
          </p:nvSpPr>
          <p:spPr>
            <a:xfrm>
              <a:off x="7936992" y="2368296"/>
              <a:ext cx="5897880" cy="21945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60" b="0">
                  <a:solidFill>
                    <a:srgbClr val="000000"/>
                  </a:solidFill>
                  <a:latin typeface="Times New Roman"/>
                  <a:ea typeface="宋体"/>
                </a:rPr>
                <a:t>先固定转换参数；仅调整外国企业在华生产成本。</a:t>
              </a:r>
              <a:endParaRPr lang="zh-CN" sz="146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公式｜delta"/>
                <p:cNvSpPr txBox="1"/>
                <p:nvPr/>
              </p:nvSpPr>
              <p:spPr>
                <a:xfrm>
                  <a:off x="8642773" y="2660904"/>
                  <a:ext cx="1276773" cy="237744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lang="en-US" sz="1664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664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𝛿</m:t>
                        </m:r>
                        <m:r>
                          <a:rPr lang="en-US" sz="1664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</m:t>
                        </m:r>
                        <m:sSubSup>
                          <m:sSubSupPr>
                            <m:ctrlPr>
                              <a:rPr lang="en-US" sz="1664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sSubSupPr>
                          <m:e>
                            <m:r>
                              <a:rPr lang="en-US" sz="1664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𝛥</m:t>
                            </m:r>
                            <m:r>
                              <m:rPr>
                                <m:nor/>
                              </m:rPr>
                              <a:rPr lang="en-US" sz="1664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lnIMPC</m:t>
                            </m:r>
                          </m:e>
                          <m:sub>
                            <m:r>
                              <a:rPr lang="en-US" sz="1664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𝐶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sz="1664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in</m:t>
                            </m:r>
                          </m:sup>
                        </m:sSubSup>
                      </m:oMath>
                    </m:oMathPara>
                  </a14:m>
                  <a:endParaRPr lang="en-US" sz="1664"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16" name="公式｜delta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773" y="2660904"/>
                  <a:ext cx="1276773" cy="237744"/>
                </a:xfrm>
                <a:prstGeom prst="rect">
                  <a:avLst/>
                </a:prstGeom>
                <a:blipFill>
                  <a:blip r:embed="rId3"/>
                  <a:stretch>
                    <a:fillRect l="-11962" t="-17949" r="-7656" b="-33333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公式｜nu"/>
                <p:cNvSpPr txBox="1"/>
                <p:nvPr/>
              </p:nvSpPr>
              <p:spPr>
                <a:xfrm>
                  <a:off x="11400504" y="2720998"/>
                  <a:ext cx="415607" cy="163274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lang="en-US" sz="1870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87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𝜈</m:t>
                        </m:r>
                        <m:r>
                          <a:rPr lang="en-US" sz="187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=1</m:t>
                        </m:r>
                      </m:oMath>
                    </m:oMathPara>
                  </a14:m>
                  <a:endParaRPr lang="en-US" sz="1870"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17" name="公式｜nu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00504" y="2720998"/>
                  <a:ext cx="415607" cy="163274"/>
                </a:xfrm>
                <a:prstGeom prst="rect">
                  <a:avLst/>
                </a:prstGeom>
                <a:blipFill>
                  <a:blip r:embed="rId4"/>
                  <a:stretch>
                    <a:fillRect l="-39706" t="-18519" r="-33824" b="-55556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字｜（基准）"/>
            <p:cNvSpPr txBox="1"/>
            <p:nvPr/>
          </p:nvSpPr>
          <p:spPr>
            <a:xfrm>
              <a:off x="12106656" y="2706624"/>
              <a:ext cx="1014984" cy="18288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50" b="0">
                  <a:solidFill>
                    <a:srgbClr val="000000"/>
                  </a:solidFill>
                  <a:latin typeface="Times New Roman"/>
                  <a:ea typeface="宋体"/>
                </a:rPr>
                <a:t>（基准）</a:t>
              </a:r>
              <a:endParaRPr lang="zh-CN" sz="1250"/>
            </a:p>
          </p:txBody>
        </p:sp>
      </p:grpSp>
      <p:grpSp>
        <p:nvGrpSpPr>
          <p:cNvPr id="19" name="节点｜02　企业匹配与微观识别"/>
          <p:cNvGrpSpPr/>
          <p:nvPr/>
        </p:nvGrpSpPr>
        <p:grpSpPr>
          <a:xfrm>
            <a:off x="548640" y="3209544"/>
            <a:ext cx="6355080" cy="1042415"/>
            <a:chOff x="548640" y="3209544"/>
            <a:chExt cx="6355080" cy="1042415"/>
          </a:xfrm>
        </p:grpSpPr>
        <p:sp>
          <p:nvSpPr>
            <p:cNvPr id="20" name="02　企业匹配与微观识别"/>
            <p:cNvSpPr/>
            <p:nvPr/>
          </p:nvSpPr>
          <p:spPr>
            <a:xfrm>
              <a:off x="548640" y="3209544"/>
              <a:ext cx="6355080" cy="1042415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文字｜02　企业匹配与微观识别"/>
            <p:cNvSpPr txBox="1"/>
            <p:nvPr/>
          </p:nvSpPr>
          <p:spPr>
            <a:xfrm>
              <a:off x="758952" y="3328415"/>
              <a:ext cx="59436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02　企业匹配与微观识别</a:t>
              </a:r>
              <a:endParaRPr lang="zh-CN" sz="1700"/>
            </a:p>
          </p:txBody>
        </p:sp>
        <p:sp>
          <p:nvSpPr>
            <p:cNvPr id="22" name="文字｜主营业务匹配当年政策单元，逐类估计外资控制变化。"/>
            <p:cNvSpPr txBox="1"/>
            <p:nvPr/>
          </p:nvSpPr>
          <p:spPr>
            <a:xfrm>
              <a:off x="758952" y="3648456"/>
              <a:ext cx="5943600" cy="5486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8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0" b="0">
                  <a:solidFill>
                    <a:srgbClr val="000000"/>
                  </a:solidFill>
                  <a:latin typeface="Times New Roman"/>
                  <a:ea typeface="宋体"/>
                </a:rPr>
                <a:t>主营业务匹配当年政策单元，逐类估计外资控制变化。</a:t>
              </a:r>
              <a:endParaRPr lang="zh-CN" sz="1450"/>
            </a:p>
            <a:p>
              <a:pPr marL="0" indent="0" algn="l">
                <a:lnSpc>
                  <a:spcPts val="18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0" b="0">
                  <a:solidFill>
                    <a:srgbClr val="000000"/>
                  </a:solidFill>
                  <a:latin typeface="Times New Roman"/>
                  <a:ea typeface="宋体"/>
                </a:rPr>
                <a:t>纳入企业固定效应与粗行业×年份固定效应。</a:t>
              </a:r>
              <a:endParaRPr lang="zh-CN" sz="1450"/>
            </a:p>
          </p:txBody>
        </p:sp>
      </p:grpSp>
      <p:grpSp>
        <p:nvGrpSpPr>
          <p:cNvPr id="23" name="节点｜05　生产地选择的局部响应"/>
          <p:cNvGrpSpPr/>
          <p:nvPr/>
        </p:nvGrpSpPr>
        <p:grpSpPr>
          <a:xfrm>
            <a:off x="7726679" y="3209544"/>
            <a:ext cx="6355080" cy="1042415"/>
            <a:chOff x="7726679" y="3209544"/>
            <a:chExt cx="6355080" cy="1042415"/>
          </a:xfrm>
        </p:grpSpPr>
        <p:sp>
          <p:nvSpPr>
            <p:cNvPr id="24" name="05　生产地选择的局部响应"/>
            <p:cNvSpPr/>
            <p:nvPr/>
          </p:nvSpPr>
          <p:spPr>
            <a:xfrm>
              <a:off x="7726679" y="3209544"/>
              <a:ext cx="6355080" cy="1042415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文字｜05　生产地选择的局部响应"/>
            <p:cNvSpPr txBox="1"/>
            <p:nvPr/>
          </p:nvSpPr>
          <p:spPr>
            <a:xfrm>
              <a:off x="7936992" y="3328415"/>
              <a:ext cx="59436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05　生产地选择的局部响应</a:t>
              </a:r>
              <a:endParaRPr lang="zh-CN" sz="1700"/>
            </a:p>
          </p:txBody>
        </p:sp>
        <p:sp>
          <p:nvSpPr>
            <p:cNvPr id="26" name="文字｜固定工资、价格指数、贸易成本与各市场总支出。"/>
            <p:cNvSpPr txBox="1"/>
            <p:nvPr/>
          </p:nvSpPr>
          <p:spPr>
            <a:xfrm>
              <a:off x="7936992" y="3648456"/>
              <a:ext cx="5943600" cy="54863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8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0" b="0">
                  <a:solidFill>
                    <a:srgbClr val="000000"/>
                  </a:solidFill>
                  <a:latin typeface="Times New Roman"/>
                  <a:ea typeface="宋体"/>
                </a:rPr>
                <a:t>固定工资、价格指数、贸易成本与各市场总支出。</a:t>
              </a:r>
              <a:endParaRPr lang="zh-CN" sz="1450"/>
            </a:p>
            <a:p>
              <a:pPr marL="0" indent="0" algn="l">
                <a:lnSpc>
                  <a:spcPts val="18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0" b="0">
                  <a:solidFill>
                    <a:srgbClr val="000000"/>
                  </a:solidFill>
                  <a:latin typeface="Times New Roman"/>
                  <a:ea typeface="宋体"/>
                </a:rPr>
                <a:t>仅重算生产地选择，并据此更新三边流量。</a:t>
              </a:r>
              <a:endParaRPr lang="zh-CN" sz="1450"/>
            </a:p>
          </p:txBody>
        </p:sp>
      </p:grpSp>
      <p:grpSp>
        <p:nvGrpSpPr>
          <p:cNvPr id="27" name="节点｜03　数据目标矩：全国外资生产份额变化"/>
          <p:cNvGrpSpPr/>
          <p:nvPr/>
        </p:nvGrpSpPr>
        <p:grpSpPr>
          <a:xfrm>
            <a:off x="548640" y="4535424"/>
            <a:ext cx="6355080" cy="1179576"/>
            <a:chOff x="548640" y="4535424"/>
            <a:chExt cx="6355080" cy="1179576"/>
          </a:xfrm>
        </p:grpSpPr>
        <p:sp>
          <p:nvSpPr>
            <p:cNvPr id="28" name="03　数据目标矩：全国外资生产份额变化"/>
            <p:cNvSpPr/>
            <p:nvPr/>
          </p:nvSpPr>
          <p:spPr>
            <a:xfrm>
              <a:off x="548640" y="4535424"/>
              <a:ext cx="6355080" cy="11795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文字｜03　数据目标矩：全国外资生产份额变化"/>
            <p:cNvSpPr txBox="1"/>
            <p:nvPr/>
          </p:nvSpPr>
          <p:spPr>
            <a:xfrm>
              <a:off x="758952" y="4654296"/>
              <a:ext cx="59436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03　数据目标矩：全国外资生产份额变化</a:t>
              </a:r>
              <a:endParaRPr lang="zh-CN" sz="17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公式｜micro_target"/>
                <p:cNvSpPr txBox="1"/>
                <p:nvPr/>
              </p:nvSpPr>
              <p:spPr>
                <a:xfrm>
                  <a:off x="2008724" y="4928616"/>
                  <a:ext cx="3444055" cy="53949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lang="en-US" sz="2060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sz="206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</m:ctrlPr>
                              </m:accPr>
                              <m:e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𝛥</m:t>
                                </m:r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sz="206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𝑡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sz="2060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micro</m:t>
                            </m:r>
                            <m:r>
                              <a:rPr lang="en-US" sz="206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,</m:t>
                            </m:r>
                            <m:r>
                              <a:rPr lang="en-US" sz="206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𝑘</m:t>
                            </m:r>
                          </m:sup>
                        </m:sSubSup>
                        <m:r>
                          <a:rPr lang="en-US" sz="206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206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naryPr>
                          <m:sub>
                            <m:r>
                              <a:rPr lang="en-US" sz="206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𝑓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</m:ctrlPr>
                              </m:sSubPr>
                              <m:e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𝑓</m:t>
                                </m:r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0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206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𝐷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06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𝑓</m:t>
                                    </m:r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06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6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6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sz="206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𝑓</m:t>
                                    </m:r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06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6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6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206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060"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30" name="公式｜micro_targe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8724" y="4928616"/>
                  <a:ext cx="3444055" cy="539496"/>
                </a:xfrm>
                <a:prstGeom prst="rect">
                  <a:avLst/>
                </a:prstGeom>
                <a:blipFill>
                  <a:blip r:embed="rId5"/>
                  <a:stretch>
                    <a:fillRect l="-11879" t="-6818" r="-9574" b="-23864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｜固定基期产出或销售额权重，汇总政策引起的外资控制变化"/>
            <p:cNvSpPr txBox="1"/>
            <p:nvPr/>
          </p:nvSpPr>
          <p:spPr>
            <a:xfrm>
              <a:off x="777240" y="5504688"/>
              <a:ext cx="5897880" cy="18288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0">
                  <a:solidFill>
                    <a:srgbClr val="000000"/>
                  </a:solidFill>
                  <a:latin typeface="Times New Roman"/>
                  <a:ea typeface="宋体"/>
                </a:rPr>
                <a:t>固定基期产出或销售额权重，汇总政策引起的外资控制变化。</a:t>
              </a:r>
              <a:endParaRPr lang="zh-CN" sz="1300"/>
            </a:p>
          </p:txBody>
        </p:sp>
      </p:grpSp>
      <p:grpSp>
        <p:nvGrpSpPr>
          <p:cNvPr id="32" name="节点｜06　模型目标矩：同口径份额的局部变化"/>
          <p:cNvGrpSpPr/>
          <p:nvPr/>
        </p:nvGrpSpPr>
        <p:grpSpPr>
          <a:xfrm>
            <a:off x="7726679" y="4535424"/>
            <a:ext cx="6355080" cy="1179576"/>
            <a:chOff x="7726679" y="4535424"/>
            <a:chExt cx="6355080" cy="1179576"/>
          </a:xfrm>
        </p:grpSpPr>
        <p:sp>
          <p:nvSpPr>
            <p:cNvPr id="33" name="06　模型目标矩：同口径份额的局部变化"/>
            <p:cNvSpPr/>
            <p:nvPr/>
          </p:nvSpPr>
          <p:spPr>
            <a:xfrm>
              <a:off x="7726679" y="4535424"/>
              <a:ext cx="6355080" cy="11795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文字｜06　模型目标矩：同口径份额的局部变化"/>
            <p:cNvSpPr txBox="1"/>
            <p:nvPr/>
          </p:nvSpPr>
          <p:spPr>
            <a:xfrm>
              <a:off x="7936992" y="4654296"/>
              <a:ext cx="59436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06　模型目标矩：同口径份额的局部变化</a:t>
              </a:r>
              <a:endParaRPr lang="zh-CN" sz="17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公式｜model_diff"/>
                <p:cNvSpPr txBox="1"/>
                <p:nvPr/>
              </p:nvSpPr>
              <p:spPr>
                <a:xfrm>
                  <a:off x="9021593" y="5041201"/>
                  <a:ext cx="3783541" cy="314325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lang="en-US" sz="2200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𝛥</m:t>
                        </m:r>
                        <m:sSup>
                          <m:sSupPr>
                            <m:ctrlP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𝑀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200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model</m:t>
                            </m:r>
                          </m:sup>
                        </m:sSup>
                        <m:d>
                          <m:dPr>
                            <m:ctrlP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d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𝛿</m:t>
                            </m:r>
                          </m:e>
                        </m:d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</m:t>
                        </m:r>
                        <m:sSup>
                          <m:sSupPr>
                            <m:ctrlP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𝑀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200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model</m:t>
                            </m:r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,1</m:t>
                            </m:r>
                          </m:sup>
                        </m:sSup>
                        <m:d>
                          <m:dPr>
                            <m:ctrlP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d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𝛿</m:t>
                            </m:r>
                          </m:e>
                        </m:d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−</m:t>
                        </m:r>
                        <m:sSup>
                          <m:sSupPr>
                            <m:ctrlP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𝑀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200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model</m:t>
                            </m:r>
                            <m:r>
                              <a:rPr lang="en-US" sz="220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,0</m:t>
                            </m:r>
                          </m:sup>
                        </m:sSup>
                      </m:oMath>
                    </m:oMathPara>
                  </a14:m>
                  <a:endParaRPr lang="en-US" sz="2200"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35" name="公式｜model_diff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1593" y="5041201"/>
                  <a:ext cx="3783541" cy="314325"/>
                </a:xfrm>
                <a:prstGeom prst="rect">
                  <a:avLst/>
                </a:prstGeom>
                <a:blipFill>
                  <a:blip r:embed="rId6"/>
                  <a:stretch>
                    <a:fillRect l="-16747" t="-3846" r="-14332" b="-7692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字｜将各行业加总，计算中国总体外国企业生产份额的变化。"/>
            <p:cNvSpPr txBox="1"/>
            <p:nvPr/>
          </p:nvSpPr>
          <p:spPr>
            <a:xfrm>
              <a:off x="7955279" y="5504688"/>
              <a:ext cx="5897880" cy="18288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0" dirty="0">
                  <a:solidFill>
                    <a:srgbClr val="000000"/>
                  </a:solidFill>
                  <a:latin typeface="Times New Roman"/>
                  <a:ea typeface="宋体"/>
                </a:rPr>
                <a:t>将各行业加总，计算中国总体外国企业生产份额的变化。</a:t>
              </a:r>
              <a:endParaRPr lang="zh-CN" sz="1300" dirty="0"/>
            </a:p>
          </p:txBody>
        </p:sp>
      </p:grpSp>
      <p:cxnSp>
        <p:nvCxnSpPr>
          <p:cNvPr id="37" name="可编辑连接线"/>
          <p:cNvCxnSpPr/>
          <p:nvPr/>
        </p:nvCxnSpPr>
        <p:spPr>
          <a:xfrm>
            <a:off x="3726180" y="2926080"/>
            <a:ext cx="0" cy="283464"/>
          </a:xfrm>
          <a:prstGeom prst="line">
            <a:avLst/>
          </a:prstGeom>
          <a:ln w="107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可编辑连接线"/>
          <p:cNvCxnSpPr/>
          <p:nvPr/>
        </p:nvCxnSpPr>
        <p:spPr>
          <a:xfrm>
            <a:off x="3726180" y="4251960"/>
            <a:ext cx="0" cy="283464"/>
          </a:xfrm>
          <a:prstGeom prst="line">
            <a:avLst/>
          </a:prstGeom>
          <a:ln w="107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可编辑连接线"/>
          <p:cNvCxnSpPr/>
          <p:nvPr/>
        </p:nvCxnSpPr>
        <p:spPr>
          <a:xfrm>
            <a:off x="10904219" y="2926080"/>
            <a:ext cx="0" cy="283464"/>
          </a:xfrm>
          <a:prstGeom prst="line">
            <a:avLst/>
          </a:prstGeom>
          <a:ln w="107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可编辑连接线"/>
          <p:cNvCxnSpPr/>
          <p:nvPr/>
        </p:nvCxnSpPr>
        <p:spPr>
          <a:xfrm>
            <a:off x="10904219" y="4251960"/>
            <a:ext cx="0" cy="283464"/>
          </a:xfrm>
          <a:prstGeom prst="line">
            <a:avLst/>
          </a:prstGeom>
          <a:ln w="107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企业目标矩进入匹配"/>
          <p:cNvCxnSpPr/>
          <p:nvPr/>
        </p:nvCxnSpPr>
        <p:spPr>
          <a:xfrm>
            <a:off x="3726180" y="5715000"/>
            <a:ext cx="0" cy="603504"/>
          </a:xfrm>
          <a:prstGeom prst="line">
            <a:avLst/>
          </a:prstGeom>
          <a:ln w="107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模型目标矩进入匹配"/>
          <p:cNvCxnSpPr/>
          <p:nvPr/>
        </p:nvCxnSpPr>
        <p:spPr>
          <a:xfrm>
            <a:off x="10904219" y="5715000"/>
            <a:ext cx="0" cy="27432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模型目标矩进入匹配"/>
          <p:cNvCxnSpPr/>
          <p:nvPr/>
        </p:nvCxnSpPr>
        <p:spPr>
          <a:xfrm flipH="1">
            <a:off x="6400800" y="5989320"/>
            <a:ext cx="4503419" cy="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模型目标矩进入匹配"/>
          <p:cNvCxnSpPr/>
          <p:nvPr/>
        </p:nvCxnSpPr>
        <p:spPr>
          <a:xfrm>
            <a:off x="6400800" y="5989320"/>
            <a:ext cx="0" cy="329184"/>
          </a:xfrm>
          <a:prstGeom prst="line">
            <a:avLst/>
          </a:prstGeom>
          <a:ln w="107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节点｜07　目标矩匹配与制度型成本反演"/>
          <p:cNvGrpSpPr/>
          <p:nvPr/>
        </p:nvGrpSpPr>
        <p:grpSpPr>
          <a:xfrm>
            <a:off x="548640" y="6318504"/>
            <a:ext cx="8412480" cy="1060704"/>
            <a:chOff x="548640" y="6318504"/>
            <a:chExt cx="8412480" cy="1060704"/>
          </a:xfrm>
        </p:grpSpPr>
        <p:sp>
          <p:nvSpPr>
            <p:cNvPr id="46" name="07　目标矩匹配与制度型成本反演"/>
            <p:cNvSpPr/>
            <p:nvPr/>
          </p:nvSpPr>
          <p:spPr>
            <a:xfrm>
              <a:off x="548640" y="6318504"/>
              <a:ext cx="8412480" cy="1060704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文字｜07　目标矩匹配与制度型成本反演"/>
            <p:cNvSpPr txBox="1"/>
            <p:nvPr/>
          </p:nvSpPr>
          <p:spPr>
            <a:xfrm>
              <a:off x="758952" y="6437376"/>
              <a:ext cx="8001000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07　目标矩匹配与制度型成本反演</a:t>
              </a:r>
              <a:endParaRPr lang="zh-CN" sz="17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公式｜minimize"/>
                <p:cNvSpPr txBox="1"/>
                <p:nvPr/>
              </p:nvSpPr>
              <p:spPr>
                <a:xfrm>
                  <a:off x="2856737" y="6720840"/>
                  <a:ext cx="3796284" cy="484632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lang="en-US" sz="2035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sz="203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sSupPr>
                          <m:e>
                            <m:r>
                              <a:rPr lang="en-US" sz="203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𝛿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035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∗</m:t>
                            </m:r>
                          </m:sup>
                        </m:sSup>
                        <m:r>
                          <a:rPr lang="en-US" sz="2035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</m:t>
                        </m:r>
                        <m:limLow>
                          <m:limLowPr>
                            <m:ctrlPr>
                              <a:rPr lang="en-US" sz="2035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limLowPr>
                          <m:e>
                            <m:r>
                              <m:rPr>
                                <m:nor/>
                              </m:rPr>
                              <a:rPr lang="en-US" sz="2035" i="0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arg min</m:t>
                            </m:r>
                          </m:e>
                          <m:lim>
                            <m:r>
                              <a:rPr lang="en-US" sz="203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𝛿</m:t>
                            </m:r>
                          </m:lim>
                        </m:limLow>
                        <m:sSup>
                          <m:sSupPr>
                            <m:ctrlPr>
                              <a:rPr lang="en-US" sz="203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3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</m:ctrlPr>
                              </m:dPr>
                              <m:e>
                                <m:r>
                                  <a:rPr lang="en-US" sz="203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𝛥</m:t>
                                </m:r>
                                <m:sSup>
                                  <m:sSupPr>
                                    <m:ctrlP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2035" i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model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𝛿</m:t>
                                    </m:r>
                                  </m:e>
                                </m:d>
                                <m:r>
                                  <a:rPr lang="en-US" sz="203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sz="2035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宋体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35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35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𝛥</m:t>
                                        </m:r>
                                        <m:r>
                                          <a:rPr lang="en-US" sz="2035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2035" i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micro</m:t>
                                    </m:r>
                                    <m: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,</m:t>
                                    </m:r>
                                    <m:r>
                                      <a:rPr lang="en-US" sz="2035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03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035"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48" name="公式｜minimiz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6737" y="6720840"/>
                  <a:ext cx="3796284" cy="484632"/>
                </a:xfrm>
                <a:prstGeom prst="rect">
                  <a:avLst/>
                </a:prstGeom>
                <a:blipFill>
                  <a:blip r:embed="rId7"/>
                  <a:stretch>
                    <a:fillRect l="-13666" t="-7595" r="-11736" b="-11392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节点｜08　一般均衡反事实"/>
          <p:cNvGrpSpPr/>
          <p:nvPr/>
        </p:nvGrpSpPr>
        <p:grpSpPr>
          <a:xfrm>
            <a:off x="9363456" y="6318504"/>
            <a:ext cx="4718304" cy="1060704"/>
            <a:chOff x="9363456" y="6318504"/>
            <a:chExt cx="4718304" cy="1060704"/>
          </a:xfrm>
        </p:grpSpPr>
        <p:sp>
          <p:nvSpPr>
            <p:cNvPr id="50" name="08　一般均衡反事实"/>
            <p:cNvSpPr/>
            <p:nvPr/>
          </p:nvSpPr>
          <p:spPr>
            <a:xfrm>
              <a:off x="9363456" y="6318504"/>
              <a:ext cx="4718304" cy="1060704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文字｜08　一般均衡反事实"/>
            <p:cNvSpPr txBox="1"/>
            <p:nvPr/>
          </p:nvSpPr>
          <p:spPr>
            <a:xfrm>
              <a:off x="9573768" y="6437376"/>
              <a:ext cx="4306824" cy="27432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 b="1">
                  <a:solidFill>
                    <a:srgbClr val="000000"/>
                  </a:solidFill>
                  <a:latin typeface="Times New Roman"/>
                  <a:ea typeface="宋体"/>
                </a:rPr>
                <a:t>08　一般均衡反事实</a:t>
              </a:r>
              <a:endParaRPr lang="zh-CN" sz="17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公式｜shock"/>
                <p:cNvSpPr txBox="1"/>
                <p:nvPr/>
              </p:nvSpPr>
              <p:spPr>
                <a:xfrm>
                  <a:off x="10942860" y="6720840"/>
                  <a:ext cx="1559494" cy="31089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lang="en-US" sz="1895">
                      <a:solidFill>
                        <a:srgbClr val="0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sz="189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9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</m:ctrlPr>
                              </m:accPr>
                              <m:e>
                                <m:r>
                                  <a:rPr lang="en-US" sz="189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𝜉</m:t>
                                </m:r>
                              </m:e>
                            </m:acc>
                          </m:e>
                          <m:sub>
                            <m:r>
                              <a:rPr lang="en-US" sz="189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𝐶𝑚</m:t>
                            </m:r>
                          </m:sub>
                          <m:sup>
                            <m:r>
                              <a:rPr lang="en-US" sz="189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𝑗</m:t>
                            </m:r>
                          </m:sup>
                        </m:sSubSup>
                        <m:r>
                          <a:rPr lang="en-US" sz="1895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895" i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exp</m:t>
                        </m:r>
                        <m:d>
                          <m:dPr>
                            <m:ctrlPr>
                              <a:rPr lang="en-US" sz="189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</m:ctrlPr>
                          </m:dPr>
                          <m:e>
                            <m:r>
                              <a:rPr lang="en-US" sz="189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−</m:t>
                            </m:r>
                            <m:r>
                              <a:rPr lang="en-US" sz="1895">
                                <a:solidFill>
                                  <a:srgbClr val="000000"/>
                                </a:solidFill>
                                <a:latin typeface="Cambria Math"/>
                                <a:ea typeface="宋体"/>
                              </a:rPr>
                              <m:t>𝜈</m:t>
                            </m:r>
                            <m:sSup>
                              <m:sSupPr>
                                <m:ctrlPr>
                                  <a:rPr lang="en-US" sz="189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</m:ctrlPr>
                              </m:sSupPr>
                              <m:e>
                                <m:r>
                                  <a:rPr lang="en-US" sz="1895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sz="1895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1895">
                    <a:latin typeface="Cambria Math"/>
                  </a:endParaRPr>
                </a:p>
              </p:txBody>
            </p:sp>
          </mc:Choice>
          <mc:Fallback>
            <p:sp>
              <p:nvSpPr>
                <p:cNvPr id="52" name="公式｜shock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2860" y="6720840"/>
                  <a:ext cx="1559494" cy="310896"/>
                </a:xfrm>
                <a:prstGeom prst="rect">
                  <a:avLst/>
                </a:prstGeom>
                <a:blipFill>
                  <a:blip r:embed="rId8"/>
                  <a:stretch>
                    <a:fillRect l="-17969" t="-15686" r="-6641" b="-33333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字｜所有外国母国在华生产、全部行业统一冲击"/>
            <p:cNvSpPr txBox="1"/>
            <p:nvPr/>
          </p:nvSpPr>
          <p:spPr>
            <a:xfrm>
              <a:off x="9601200" y="7141464"/>
              <a:ext cx="4261104" cy="19202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80" b="0">
                  <a:solidFill>
                    <a:srgbClr val="000000"/>
                  </a:solidFill>
                  <a:latin typeface="Times New Roman"/>
                  <a:ea typeface="宋体"/>
                </a:rPr>
                <a:t>所有外国母国在华生产、全部行业统一冲击</a:t>
              </a:r>
              <a:endParaRPr lang="zh-CN" sz="1280"/>
            </a:p>
          </p:txBody>
        </p:sp>
      </p:grpSp>
      <p:cxnSp>
        <p:nvCxnSpPr>
          <p:cNvPr id="54" name="反演成本进入完整均衡"/>
          <p:cNvCxnSpPr/>
          <p:nvPr/>
        </p:nvCxnSpPr>
        <p:spPr>
          <a:xfrm>
            <a:off x="8961120" y="6848856"/>
            <a:ext cx="402336" cy="0"/>
          </a:xfrm>
          <a:prstGeom prst="line">
            <a:avLst/>
          </a:prstGeom>
          <a:ln w="1206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｜均衡结果　外资生产份额与产值、三边流量、部门产出与价"/>
          <p:cNvSpPr txBox="1"/>
          <p:nvPr/>
        </p:nvSpPr>
        <p:spPr>
          <a:xfrm>
            <a:off x="585216" y="7607808"/>
            <a:ext cx="13459968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80" b="0" dirty="0">
                <a:solidFill>
                  <a:srgbClr val="000000"/>
                </a:solidFill>
                <a:latin typeface="Times New Roman"/>
                <a:ea typeface="宋体"/>
              </a:rPr>
              <a:t>均衡结果　外资生产份额与产值、三边流量、部门产出与价格、工资、利润、研发、新品种与福利。</a:t>
            </a:r>
            <a:endParaRPr lang="zh-CN" sz="1380" dirty="0"/>
          </a:p>
        </p:txBody>
      </p:sp>
      <p:sp>
        <p:nvSpPr>
          <p:cNvPr id="56" name="文字｜注：目标矩采用全国口径；反演阶段固定基准环境，一般均"/>
          <p:cNvSpPr txBox="1"/>
          <p:nvPr/>
        </p:nvSpPr>
        <p:spPr>
          <a:xfrm>
            <a:off x="566928" y="7936992"/>
            <a:ext cx="127558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40" b="0" dirty="0">
                <a:solidFill>
                  <a:srgbClr val="000000"/>
                </a:solidFill>
                <a:latin typeface="Times New Roman"/>
                <a:ea typeface="宋体"/>
              </a:rPr>
              <a:t>注：目标矩采用全国口径；反演阶段固定基准环境，一般均衡阶段再允许内生变量共同调整。依据：方案 A.1—A.6。</a:t>
            </a:r>
            <a:endParaRPr lang="zh-CN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｜路线图说明：政策识别与数据目标矩"/>
          <p:cNvSpPr txBox="1"/>
          <p:nvPr/>
        </p:nvSpPr>
        <p:spPr>
          <a:xfrm>
            <a:off x="548640" y="329184"/>
            <a:ext cx="1357884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 b="1">
                <a:solidFill>
                  <a:srgbClr val="000000"/>
                </a:solidFill>
                <a:latin typeface="Times New Roman"/>
                <a:ea typeface="宋体"/>
              </a:rPr>
              <a:t>路线图说明：政策识别与数据目标矩</a:t>
            </a:r>
            <a:endParaRPr lang="zh-CN" sz="2700"/>
          </a:p>
        </p:txBody>
      </p:sp>
      <p:sp>
        <p:nvSpPr>
          <p:cNvPr id="3" name="文字｜企业回归识别外资行为变化；生产份额变化才是进入结构反"/>
          <p:cNvSpPr txBox="1"/>
          <p:nvPr/>
        </p:nvSpPr>
        <p:spPr>
          <a:xfrm>
            <a:off x="566928" y="905256"/>
            <a:ext cx="1339596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70" b="0">
                <a:solidFill>
                  <a:srgbClr val="000000"/>
                </a:solidFill>
                <a:latin typeface="Times New Roman"/>
                <a:ea typeface="宋体"/>
              </a:rPr>
              <a:t>企业回归识别外资行为变化；生产份额变化才是进入结构反演的目标矩。</a:t>
            </a:r>
            <a:endParaRPr lang="zh-CN" sz="1470"/>
          </a:p>
        </p:txBody>
      </p:sp>
      <p:cxnSp>
        <p:nvCxnSpPr>
          <p:cNvPr id="4" name="页眉分隔线"/>
          <p:cNvCxnSpPr/>
          <p:nvPr/>
        </p:nvCxnSpPr>
        <p:spPr>
          <a:xfrm>
            <a:off x="548640" y="1271016"/>
            <a:ext cx="1353312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｜02"/>
          <p:cNvSpPr txBox="1"/>
          <p:nvPr/>
        </p:nvSpPr>
        <p:spPr>
          <a:xfrm>
            <a:off x="13679424" y="7936992"/>
            <a:ext cx="402336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" b="0">
                <a:solidFill>
                  <a:srgbClr val="000000"/>
                </a:solidFill>
                <a:latin typeface="Times New Roman"/>
                <a:ea typeface="宋体"/>
              </a:rPr>
              <a:t>02</a:t>
            </a:r>
            <a:endParaRPr lang="zh-CN" sz="1080"/>
          </a:p>
        </p:txBody>
      </p:sp>
      <p:cxnSp>
        <p:nvCxnSpPr>
          <p:cNvPr id="6" name="文字与公式分栏线"/>
          <p:cNvCxnSpPr/>
          <p:nvPr/>
        </p:nvCxnSpPr>
        <p:spPr>
          <a:xfrm>
            <a:off x="7397496" y="1554480"/>
            <a:ext cx="0" cy="539496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段落分隔线"/>
          <p:cNvCxnSpPr/>
          <p:nvPr/>
        </p:nvCxnSpPr>
        <p:spPr>
          <a:xfrm>
            <a:off x="548640" y="3191256"/>
            <a:ext cx="13533120" cy="0"/>
          </a:xfrm>
          <a:prstGeom prst="line">
            <a:avLst/>
          </a:prstGeom>
          <a:ln w="82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段落分隔线"/>
          <p:cNvCxnSpPr/>
          <p:nvPr/>
        </p:nvCxnSpPr>
        <p:spPr>
          <a:xfrm>
            <a:off x="548640" y="5093208"/>
            <a:ext cx="13533120" cy="0"/>
          </a:xfrm>
          <a:prstGeom prst="line">
            <a:avLst/>
          </a:prstGeom>
          <a:ln w="82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段落分隔线"/>
          <p:cNvCxnSpPr/>
          <p:nvPr/>
        </p:nvCxnSpPr>
        <p:spPr>
          <a:xfrm>
            <a:off x="548640" y="7059168"/>
            <a:ext cx="13533120" cy="0"/>
          </a:xfrm>
          <a:prstGeom prst="line">
            <a:avLst/>
          </a:prstGeom>
          <a:ln w="82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｜01"/>
          <p:cNvSpPr txBox="1"/>
          <p:nvPr/>
        </p:nvSpPr>
        <p:spPr>
          <a:xfrm>
            <a:off x="576072" y="1645920"/>
            <a:ext cx="47548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50" b="1">
                <a:solidFill>
                  <a:srgbClr val="000000"/>
                </a:solidFill>
                <a:latin typeface="Times New Roman"/>
                <a:ea typeface="宋体"/>
              </a:rPr>
              <a:t>01</a:t>
            </a:r>
            <a:endParaRPr lang="zh-CN" sz="2050"/>
          </a:p>
        </p:txBody>
      </p:sp>
      <p:sp>
        <p:nvSpPr>
          <p:cNvPr id="11" name="文字｜政策编码与企业匹配"/>
          <p:cNvSpPr txBox="1"/>
          <p:nvPr/>
        </p:nvSpPr>
        <p:spPr>
          <a:xfrm>
            <a:off x="1243584" y="1627632"/>
            <a:ext cx="5888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b="1">
                <a:solidFill>
                  <a:srgbClr val="000000"/>
                </a:solidFill>
                <a:latin typeface="Times New Roman"/>
                <a:ea typeface="宋体"/>
              </a:rPr>
              <a:t>政策编码与企业匹配</a:t>
            </a:r>
            <a:endParaRPr lang="zh-CN" sz="1950"/>
          </a:p>
        </p:txBody>
      </p:sp>
      <p:sp>
        <p:nvSpPr>
          <p:cNvPr id="12" name="文字｜依据年度政策拆分编码单元，记录六类准入限制。"/>
          <p:cNvSpPr txBox="1"/>
          <p:nvPr/>
        </p:nvSpPr>
        <p:spPr>
          <a:xfrm>
            <a:off x="1243584" y="2048256"/>
            <a:ext cx="5870448" cy="10789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依据年度政策拆分编码单元，记录六类准入限制。</a:t>
            </a:r>
            <a:endParaRPr lang="zh-CN" sz="1580"/>
          </a:p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利用可核验的行业信息限定候选集合，再将企业</a:t>
            </a:r>
            <a:endParaRPr lang="zh-CN" sz="1580"/>
          </a:p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主营业务匹配当年政策单元；歧义记录提交复核。</a:t>
            </a:r>
            <a:endParaRPr lang="zh-CN" sz="1580"/>
          </a:p>
        </p:txBody>
      </p:sp>
      <p:sp>
        <p:nvSpPr>
          <p:cNvPr id="13" name="文字｜企业政策暴露来自匹配到的当年准入限制"/>
          <p:cNvSpPr txBox="1"/>
          <p:nvPr/>
        </p:nvSpPr>
        <p:spPr>
          <a:xfrm>
            <a:off x="7781544" y="1636776"/>
            <a:ext cx="598932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80" b="0">
                <a:solidFill>
                  <a:srgbClr val="000000"/>
                </a:solidFill>
                <a:latin typeface="Times New Roman"/>
                <a:ea typeface="宋体"/>
              </a:rPr>
              <a:t>企业政策暴露来自匹配到的当年准入限制</a:t>
            </a:r>
            <a:endParaRPr lang="zh-CN" sz="13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公式｜exposure"/>
              <p:cNvSpPr txBox="1"/>
              <p:nvPr/>
            </p:nvSpPr>
            <p:spPr>
              <a:xfrm>
                <a:off x="8280982" y="1999974"/>
                <a:ext cx="948795" cy="407458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2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𝑍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  <m: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p>
                      </m:sSubSup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sSubSup>
                        <m:sSubSup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𝑧</m:t>
                          </m:r>
                        </m:e>
                        <m:sub>
                          <m:sSubSup>
                            <m:sSubSupPr>
                              <m:ctrlP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𝑓𝑡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20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𝑡</m:t>
                          </m:r>
                        </m:sub>
                        <m: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2200">
                  <a:latin typeface="Cambria Math"/>
                </a:endParaRPr>
              </a:p>
            </p:txBody>
          </p:sp>
        </mc:Choice>
        <mc:Fallback>
          <p:sp>
            <p:nvSpPr>
              <p:cNvPr id="14" name="公式｜exposur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982" y="1999974"/>
                <a:ext cx="948795" cy="407458"/>
              </a:xfrm>
              <a:prstGeom prst="rect">
                <a:avLst/>
              </a:prstGeom>
              <a:blipFill>
                <a:blip r:embed="rId3"/>
                <a:stretch>
                  <a:fillRect l="-33333" t="-13433" r="-22436" b="-3731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公式｜types"/>
              <p:cNvSpPr txBox="1"/>
              <p:nvPr/>
            </p:nvSpPr>
            <p:spPr>
              <a:xfrm>
                <a:off x="10272294" y="2058685"/>
                <a:ext cx="2717747" cy="29003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03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03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𝑘</m:t>
                      </m:r>
                      <m:r>
                        <a:rPr lang="en-US" sz="203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∈</m:t>
                      </m:r>
                      <m:r>
                        <a:rPr lang="en-US" sz="203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𝐾</m:t>
                      </m:r>
                      <m:r>
                        <a:rPr lang="en-US" sz="203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dPr>
                        <m:e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𝑃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 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𝐸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 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𝐶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 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𝑂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 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𝐺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 </m:t>
                          </m:r>
                          <m:r>
                            <a:rPr lang="en-US" sz="203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2030">
                  <a:latin typeface="Cambria Math"/>
                </a:endParaRPr>
              </a:p>
            </p:txBody>
          </p:sp>
        </mc:Choice>
        <mc:Fallback>
          <p:sp>
            <p:nvSpPr>
              <p:cNvPr id="15" name="公式｜typ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294" y="2058685"/>
                <a:ext cx="2717747" cy="290036"/>
              </a:xfrm>
              <a:prstGeom prst="rect">
                <a:avLst/>
              </a:prstGeom>
              <a:blipFill>
                <a:blip r:embed="rId4"/>
                <a:stretch>
                  <a:fillRect l="-3587" b="-14894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｜六类限制：禁止准入、股权、中方控制、组织形式、"/>
          <p:cNvSpPr txBox="1"/>
          <p:nvPr/>
        </p:nvSpPr>
        <p:spPr>
          <a:xfrm>
            <a:off x="7781544" y="2624328"/>
            <a:ext cx="598932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000000"/>
                </a:solidFill>
                <a:latin typeface="Times New Roman"/>
                <a:ea typeface="宋体"/>
              </a:rPr>
              <a:t>六类限制：禁止准入、股权、中方控制、组织形式、</a:t>
            </a:r>
            <a:endParaRPr lang="zh-CN" sz="140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000000"/>
                </a:solidFill>
                <a:latin typeface="Times New Roman"/>
                <a:ea typeface="宋体"/>
              </a:rPr>
              <a:t>治理及其他准入限制。</a:t>
            </a:r>
            <a:endParaRPr lang="zh-CN" sz="1400"/>
          </a:p>
        </p:txBody>
      </p:sp>
      <p:sp>
        <p:nvSpPr>
          <p:cNvPr id="17" name="文字｜02"/>
          <p:cNvSpPr txBox="1"/>
          <p:nvPr/>
        </p:nvSpPr>
        <p:spPr>
          <a:xfrm>
            <a:off x="576072" y="3474720"/>
            <a:ext cx="47548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50" b="1">
                <a:solidFill>
                  <a:srgbClr val="000000"/>
                </a:solidFill>
                <a:latin typeface="Times New Roman"/>
                <a:ea typeface="宋体"/>
              </a:rPr>
              <a:t>02</a:t>
            </a:r>
            <a:endParaRPr lang="zh-CN" sz="2050"/>
          </a:p>
        </p:txBody>
      </p:sp>
      <p:sp>
        <p:nvSpPr>
          <p:cNvPr id="18" name="文字｜企业面板识别"/>
          <p:cNvSpPr txBox="1"/>
          <p:nvPr/>
        </p:nvSpPr>
        <p:spPr>
          <a:xfrm>
            <a:off x="1243584" y="3456432"/>
            <a:ext cx="5888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b="1">
                <a:solidFill>
                  <a:srgbClr val="000000"/>
                </a:solidFill>
                <a:latin typeface="Times New Roman"/>
                <a:ea typeface="宋体"/>
              </a:rPr>
              <a:t>企业面板识别</a:t>
            </a:r>
            <a:endParaRPr lang="zh-CN" sz="1950"/>
          </a:p>
        </p:txBody>
      </p:sp>
      <p:sp>
        <p:nvSpPr>
          <p:cNvPr id="19" name="文字｜分别估计六类限制对企业外资参与的影响；企业"/>
          <p:cNvSpPr txBox="1"/>
          <p:nvPr/>
        </p:nvSpPr>
        <p:spPr>
          <a:xfrm>
            <a:off x="1243584" y="3877056"/>
            <a:ext cx="5870448" cy="10789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分别估计六类限制对企业外资参与的影响；企业</a:t>
            </a:r>
            <a:endParaRPr lang="zh-CN" sz="1580"/>
          </a:p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固定效应与粗行业×年份固定效应控制长期特征</a:t>
            </a:r>
            <a:endParaRPr lang="zh-CN" sz="1580"/>
          </a:p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和共同冲击。结构反演使用外资控制指标。</a:t>
            </a:r>
            <a:endParaRPr lang="zh-CN" sz="1580"/>
          </a:p>
        </p:txBody>
      </p:sp>
      <p:sp>
        <p:nvSpPr>
          <p:cNvPr id="20" name="文字｜六类限制分别估计；下式为式（A4a）—（A4f）的合"/>
          <p:cNvSpPr txBox="1"/>
          <p:nvPr/>
        </p:nvSpPr>
        <p:spPr>
          <a:xfrm>
            <a:off x="7781544" y="3474720"/>
            <a:ext cx="5989320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000000"/>
                </a:solidFill>
                <a:latin typeface="Times New Roman"/>
                <a:ea typeface="宋体"/>
              </a:rPr>
              <a:t>六类限制分别估计；下式为式（A4a）—（A4f）的合并记法</a:t>
            </a:r>
            <a:endParaRPr lang="zh-CN" sz="12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公式｜regression"/>
              <p:cNvSpPr txBox="1"/>
              <p:nvPr/>
            </p:nvSpPr>
            <p:spPr>
              <a:xfrm>
                <a:off x="9179602" y="3890295"/>
                <a:ext cx="3376083" cy="36671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2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𝑌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sSub>
                        <m:sSub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𝛽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𝑍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  <m: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p>
                      </m:sSubSup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𝜇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𝜆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𝑗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𝑡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+</m:t>
                      </m:r>
                      <m:sSubSup>
                        <m:sSubSup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𝑋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  <m: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′</m:t>
                          </m:r>
                        </m:sup>
                      </m:sSubSup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𝜃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+</m:t>
                      </m:r>
                      <m:sSubSup>
                        <m:sSubSupPr>
                          <m:ctrlP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𝜀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  <m: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2200">
                  <a:latin typeface="Cambria Math"/>
                </a:endParaRPr>
              </a:p>
            </p:txBody>
          </p:sp>
        </mc:Choice>
        <mc:Fallback>
          <p:sp>
            <p:nvSpPr>
              <p:cNvPr id="21" name="公式｜regress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602" y="3890295"/>
                <a:ext cx="3376083" cy="366712"/>
              </a:xfrm>
              <a:prstGeom prst="rect">
                <a:avLst/>
              </a:prstGeom>
              <a:blipFill>
                <a:blip r:embed="rId5"/>
                <a:stretch>
                  <a:fillRect l="-20397" t="-1667" r="-17690" b="-31667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公式｜control_outcome"/>
              <p:cNvSpPr txBox="1"/>
              <p:nvPr/>
            </p:nvSpPr>
            <p:spPr>
              <a:xfrm>
                <a:off x="8073485" y="4519612"/>
                <a:ext cx="833437" cy="33337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1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𝑌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</m:sSub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sSubSup>
                        <m:sSubSup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𝐷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𝑓𝑡</m:t>
                          </m:r>
                        </m:sub>
                        <m:sup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𝐹</m:t>
                          </m:r>
                        </m:sup>
                      </m:sSubSup>
                    </m:oMath>
                  </m:oMathPara>
                </a14:m>
                <a:endParaRPr lang="en-US" sz="2100">
                  <a:latin typeface="Cambria Math"/>
                </a:endParaRPr>
              </a:p>
            </p:txBody>
          </p:sp>
        </mc:Choice>
        <mc:Fallback>
          <p:sp>
            <p:nvSpPr>
              <p:cNvPr id="22" name="公式｜control_outcom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485" y="4519612"/>
                <a:ext cx="833437" cy="333375"/>
              </a:xfrm>
              <a:prstGeom prst="rect">
                <a:avLst/>
              </a:prstGeom>
              <a:blipFill>
                <a:blip r:embed="rId6"/>
                <a:stretch>
                  <a:fillRect l="-27007" t="-1818" r="-17518" b="-34545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｜外资控制取 1，其他取 0；其余结果作补充检验。"/>
          <p:cNvSpPr txBox="1"/>
          <p:nvPr/>
        </p:nvSpPr>
        <p:spPr>
          <a:xfrm>
            <a:off x="9272016" y="4590288"/>
            <a:ext cx="4608576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60" b="0">
                <a:solidFill>
                  <a:srgbClr val="000000"/>
                </a:solidFill>
                <a:latin typeface="Times New Roman"/>
                <a:ea typeface="宋体"/>
              </a:rPr>
              <a:t>外资控制取 1，其他取 0；其余结果作补充检验。</a:t>
            </a:r>
            <a:endParaRPr lang="zh-CN" sz="1360"/>
          </a:p>
        </p:txBody>
      </p:sp>
      <p:sp>
        <p:nvSpPr>
          <p:cNvPr id="24" name="文字｜03"/>
          <p:cNvSpPr txBox="1"/>
          <p:nvPr/>
        </p:nvSpPr>
        <p:spPr>
          <a:xfrm>
            <a:off x="576072" y="5349240"/>
            <a:ext cx="47548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50" b="1">
                <a:solidFill>
                  <a:srgbClr val="000000"/>
                </a:solidFill>
                <a:latin typeface="Times New Roman"/>
                <a:ea typeface="宋体"/>
              </a:rPr>
              <a:t>03</a:t>
            </a:r>
            <a:endParaRPr lang="zh-CN" sz="2050"/>
          </a:p>
        </p:txBody>
      </p:sp>
      <p:sp>
        <p:nvSpPr>
          <p:cNvPr id="25" name="文字｜固定基期权重，形成全国目标矩"/>
          <p:cNvSpPr txBox="1"/>
          <p:nvPr/>
        </p:nvSpPr>
        <p:spPr>
          <a:xfrm>
            <a:off x="1243584" y="5330952"/>
            <a:ext cx="5888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b="1">
                <a:solidFill>
                  <a:srgbClr val="000000"/>
                </a:solidFill>
                <a:latin typeface="Times New Roman"/>
                <a:ea typeface="宋体"/>
              </a:rPr>
              <a:t>固定基期权重，形成全国目标矩</a:t>
            </a:r>
            <a:endParaRPr lang="zh-CN" sz="1950"/>
          </a:p>
        </p:txBody>
      </p:sp>
      <p:sp>
        <p:nvSpPr>
          <p:cNvPr id="26" name="文字｜将改革引起的外资控制变化，按统一基期企业"/>
          <p:cNvSpPr txBox="1"/>
          <p:nvPr/>
        </p:nvSpPr>
        <p:spPr>
          <a:xfrm>
            <a:off x="1243584" y="5751576"/>
            <a:ext cx="5870448" cy="10789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将改革引起的外资控制变化，按统一基期企业</a:t>
            </a:r>
            <a:endParaRPr lang="zh-CN" sz="1580"/>
          </a:p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产出或销售额权重加总。固定权重排除企业规模</a:t>
            </a:r>
            <a:endParaRPr lang="zh-CN" sz="1580"/>
          </a:p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000000"/>
                </a:solidFill>
                <a:latin typeface="Times New Roman"/>
                <a:ea typeface="宋体"/>
              </a:rPr>
              <a:t>同期变化，并衔接全国、不分行业的成本口径。</a:t>
            </a:r>
            <a:endParaRPr lang="zh-CN" sz="15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公式｜weight"/>
              <p:cNvSpPr txBox="1"/>
              <p:nvPr/>
            </p:nvSpPr>
            <p:spPr>
              <a:xfrm>
                <a:off x="8126809" y="5478388"/>
                <a:ext cx="1119981" cy="69267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17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7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𝜔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</m:t>
                          </m:r>
                          <m:r>
                            <a:rPr lang="en-US" sz="17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0</m:t>
                          </m:r>
                        </m:sub>
                      </m:sSub>
                      <m:r>
                        <a:rPr lang="en-US" sz="17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𝑓</m:t>
                              </m:r>
                              <m: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naryPr>
                            <m:sub>
                              <m: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𝑓</m:t>
                              </m:r>
                              <m:r>
                                <a:rPr lang="en-US" sz="17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′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7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𝑓</m:t>
                                  </m:r>
                                  <m:r>
                                    <a:rPr lang="en-US" sz="17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′0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700">
                  <a:latin typeface="Cambria Math"/>
                </a:endParaRPr>
              </a:p>
            </p:txBody>
          </p:sp>
        </mc:Choice>
        <mc:Fallback>
          <p:sp>
            <p:nvSpPr>
              <p:cNvPr id="27" name="公式｜weigh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809" y="5478388"/>
                <a:ext cx="1119981" cy="692679"/>
              </a:xfrm>
              <a:prstGeom prst="rect">
                <a:avLst/>
              </a:prstGeom>
              <a:blipFill>
                <a:blip r:embed="rId7"/>
                <a:stretch>
                  <a:fillRect l="-9783" r="-6522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｜统一基期的企业产出或销售额占比"/>
          <p:cNvSpPr txBox="1"/>
          <p:nvPr/>
        </p:nvSpPr>
        <p:spPr>
          <a:xfrm>
            <a:off x="9646920" y="5623560"/>
            <a:ext cx="420624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000000"/>
                </a:solidFill>
                <a:latin typeface="Times New Roman"/>
                <a:ea typeface="宋体"/>
              </a:rPr>
              <a:t>统一基期的企业产出或销售额占比</a:t>
            </a:r>
            <a:endParaRPr 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公式｜micro_target"/>
              <p:cNvSpPr txBox="1"/>
              <p:nvPr/>
            </p:nvSpPr>
            <p:spPr>
              <a:xfrm>
                <a:off x="9235994" y="6391656"/>
                <a:ext cx="3327307" cy="52120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199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19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accPr>
                            <m:e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𝛥</m:t>
                              </m:r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sz="199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990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micro</m:t>
                          </m:r>
                          <m:r>
                            <a:rPr lang="en-US" sz="199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</m:t>
                          </m:r>
                          <m:r>
                            <a:rPr lang="en-US" sz="199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p>
                      </m:sSubSup>
                      <m:r>
                        <a:rPr lang="en-US" sz="199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99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naryPr>
                        <m:sub>
                          <m:r>
                            <a:rPr lang="en-US" sz="199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𝑓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sSubPr>
                            <m:e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𝑓</m:t>
                              </m:r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0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9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accPr>
                                <m:e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𝐷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9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𝑓</m:t>
                                  </m:r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9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9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9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sz="199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𝑓</m:t>
                                  </m:r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9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9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9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99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sz="1990">
                  <a:latin typeface="Cambria Math"/>
                </a:endParaRPr>
              </a:p>
            </p:txBody>
          </p:sp>
        </mc:Choice>
        <mc:Fallback>
          <p:sp>
            <p:nvSpPr>
              <p:cNvPr id="29" name="公式｜micro_targ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994" y="6391656"/>
                <a:ext cx="3327307" cy="521207"/>
              </a:xfrm>
              <a:prstGeom prst="rect">
                <a:avLst/>
              </a:prstGeom>
              <a:blipFill>
                <a:blip r:embed="rId8"/>
                <a:stretch>
                  <a:fillRect l="-11722" t="-4706" r="-9524" b="-23529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｜口径边界：外资持股比例不能直接替代生产份额；未匹配记"/>
          <p:cNvSpPr txBox="1"/>
          <p:nvPr/>
        </p:nvSpPr>
        <p:spPr>
          <a:xfrm>
            <a:off x="594360" y="7315200"/>
            <a:ext cx="13313664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60" b="0" dirty="0">
                <a:solidFill>
                  <a:srgbClr val="000000"/>
                </a:solidFill>
                <a:latin typeface="Times New Roman"/>
                <a:ea typeface="宋体"/>
              </a:rPr>
              <a:t>口径边界：外资持股比例不能直接替代生产份额；未匹配记录保持缺失。</a:t>
            </a:r>
            <a:endParaRPr lang="zh-CN" sz="1360" dirty="0"/>
          </a:p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60" b="0" dirty="0">
                <a:solidFill>
                  <a:srgbClr val="000000"/>
                </a:solidFill>
                <a:latin typeface="Times New Roman"/>
                <a:ea typeface="宋体"/>
              </a:rPr>
              <a:t>如果无法构造与模型可比的外资控制口径，先报告微观估计，暂不作成本反演。</a:t>
            </a:r>
            <a:endParaRPr lang="zh-CN" sz="13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｜路线图说明：局部成本反演与一般均衡"/>
          <p:cNvSpPr txBox="1"/>
          <p:nvPr/>
        </p:nvSpPr>
        <p:spPr>
          <a:xfrm>
            <a:off x="548640" y="329184"/>
            <a:ext cx="13578840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 b="1">
                <a:solidFill>
                  <a:srgbClr val="000000"/>
                </a:solidFill>
                <a:latin typeface="Times New Roman"/>
                <a:ea typeface="宋体"/>
              </a:rPr>
              <a:t>路线图说明：局部成本反演与一般均衡</a:t>
            </a:r>
            <a:endParaRPr lang="zh-CN" sz="2700"/>
          </a:p>
        </p:txBody>
      </p:sp>
      <p:sp>
        <p:nvSpPr>
          <p:cNvPr id="3" name="文字｜先在固定基准环境下反演成本，再把该成本冲击输入完整均"/>
          <p:cNvSpPr txBox="1"/>
          <p:nvPr/>
        </p:nvSpPr>
        <p:spPr>
          <a:xfrm>
            <a:off x="566928" y="905256"/>
            <a:ext cx="13395960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70" b="0">
                <a:solidFill>
                  <a:srgbClr val="000000"/>
                </a:solidFill>
                <a:latin typeface="Times New Roman"/>
                <a:ea typeface="宋体"/>
              </a:rPr>
              <a:t>先在固定基准环境下反演成本，再把该成本冲击输入完整均衡；两个阶段不混同。</a:t>
            </a:r>
            <a:endParaRPr lang="zh-CN" sz="1470"/>
          </a:p>
        </p:txBody>
      </p:sp>
      <p:cxnSp>
        <p:nvCxnSpPr>
          <p:cNvPr id="4" name="页眉分隔线"/>
          <p:cNvCxnSpPr/>
          <p:nvPr/>
        </p:nvCxnSpPr>
        <p:spPr>
          <a:xfrm>
            <a:off x="548640" y="1271016"/>
            <a:ext cx="1353312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｜03"/>
          <p:cNvSpPr txBox="1"/>
          <p:nvPr/>
        </p:nvSpPr>
        <p:spPr>
          <a:xfrm>
            <a:off x="13679424" y="7936992"/>
            <a:ext cx="402336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" b="0">
                <a:solidFill>
                  <a:srgbClr val="000000"/>
                </a:solidFill>
                <a:latin typeface="Times New Roman"/>
                <a:ea typeface="宋体"/>
              </a:rPr>
              <a:t>03</a:t>
            </a:r>
            <a:endParaRPr lang="zh-CN" sz="1080"/>
          </a:p>
        </p:txBody>
      </p:sp>
      <p:cxnSp>
        <p:nvCxnSpPr>
          <p:cNvPr id="6" name="文字与公式分栏线"/>
          <p:cNvCxnSpPr/>
          <p:nvPr/>
        </p:nvCxnSpPr>
        <p:spPr>
          <a:xfrm>
            <a:off x="7397496" y="1554480"/>
            <a:ext cx="0" cy="539496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段落分隔线"/>
          <p:cNvCxnSpPr/>
          <p:nvPr/>
        </p:nvCxnSpPr>
        <p:spPr>
          <a:xfrm>
            <a:off x="548640" y="3191256"/>
            <a:ext cx="13533120" cy="0"/>
          </a:xfrm>
          <a:prstGeom prst="line">
            <a:avLst/>
          </a:prstGeom>
          <a:ln w="82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段落分隔线"/>
          <p:cNvCxnSpPr/>
          <p:nvPr/>
        </p:nvCxnSpPr>
        <p:spPr>
          <a:xfrm>
            <a:off x="548640" y="5093208"/>
            <a:ext cx="13533120" cy="0"/>
          </a:xfrm>
          <a:prstGeom prst="line">
            <a:avLst/>
          </a:prstGeom>
          <a:ln w="82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段落分隔线"/>
          <p:cNvCxnSpPr/>
          <p:nvPr/>
        </p:nvCxnSpPr>
        <p:spPr>
          <a:xfrm>
            <a:off x="548640" y="7059168"/>
            <a:ext cx="13533120" cy="0"/>
          </a:xfrm>
          <a:prstGeom prst="line">
            <a:avLst/>
          </a:prstGeom>
          <a:ln w="825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｜04"/>
          <p:cNvSpPr txBox="1"/>
          <p:nvPr/>
        </p:nvSpPr>
        <p:spPr>
          <a:xfrm>
            <a:off x="576072" y="1645920"/>
            <a:ext cx="47548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50" b="1">
                <a:solidFill>
                  <a:srgbClr val="000000"/>
                </a:solidFill>
                <a:latin typeface="Times New Roman"/>
                <a:ea typeface="宋体"/>
              </a:rPr>
              <a:t>04</a:t>
            </a:r>
            <a:endParaRPr lang="zh-CN" sz="2050"/>
          </a:p>
        </p:txBody>
      </p:sp>
      <p:sp>
        <p:nvSpPr>
          <p:cNvPr id="11" name="文字｜给定候选成本，计算局部响应"/>
          <p:cNvSpPr txBox="1"/>
          <p:nvPr/>
        </p:nvSpPr>
        <p:spPr>
          <a:xfrm>
            <a:off x="1243584" y="1627632"/>
            <a:ext cx="5888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b="1">
                <a:solidFill>
                  <a:srgbClr val="000000"/>
                </a:solidFill>
                <a:latin typeface="Times New Roman"/>
                <a:ea typeface="宋体"/>
              </a:rPr>
              <a:t>给定候选成本，计算局部响应</a:t>
            </a:r>
            <a:endParaRPr lang="zh-CN" sz="1950"/>
          </a:p>
        </p:txBody>
      </p:sp>
      <p:sp>
        <p:nvSpPr>
          <p:cNvPr id="12" name="文字｜先固定或外部校准转换参数，基准取单位弹性。"/>
          <p:cNvSpPr txBox="1"/>
          <p:nvPr/>
        </p:nvSpPr>
        <p:spPr>
          <a:xfrm>
            <a:off x="1243584" y="2048256"/>
            <a:ext cx="5870448" cy="10789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000000"/>
                </a:solidFill>
                <a:latin typeface="Times New Roman"/>
                <a:ea typeface="宋体"/>
              </a:rPr>
              <a:t>先固定或外部校准转换参数，基准取单位弹性。</a:t>
            </a:r>
            <a:endParaRPr lang="zh-CN" sz="153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000000"/>
                </a:solidFill>
                <a:latin typeface="Times New Roman"/>
                <a:ea typeface="宋体"/>
              </a:rPr>
              <a:t>仅调整外国企业在华生产成本，各行业同幅变化。</a:t>
            </a:r>
            <a:endParaRPr lang="zh-CN" sz="153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000000"/>
                </a:solidFill>
                <a:latin typeface="Times New Roman"/>
                <a:ea typeface="宋体"/>
              </a:rPr>
              <a:t>固定工资、价格指数、贸易成本与市场总支出，</a:t>
            </a:r>
            <a:endParaRPr lang="zh-CN" sz="153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000000"/>
                </a:solidFill>
                <a:latin typeface="Times New Roman"/>
                <a:ea typeface="宋体"/>
              </a:rPr>
              <a:t>只计算生产地选择和三边流量的局部响应。</a:t>
            </a:r>
            <a:endParaRPr lang="zh-CN" sz="1530"/>
          </a:p>
        </p:txBody>
      </p:sp>
      <p:sp>
        <p:nvSpPr>
          <p:cNvPr id="13" name="文字｜候选成本与结构单位成本、生产效率的对应"/>
          <p:cNvSpPr txBox="1"/>
          <p:nvPr/>
        </p:nvSpPr>
        <p:spPr>
          <a:xfrm>
            <a:off x="7781544" y="1636776"/>
            <a:ext cx="598932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80" b="0">
                <a:solidFill>
                  <a:srgbClr val="000000"/>
                </a:solidFill>
                <a:latin typeface="Times New Roman"/>
                <a:ea typeface="宋体"/>
              </a:rPr>
              <a:t>候选成本与结构单位成本、生产效率的对应</a:t>
            </a:r>
            <a:endParaRPr lang="zh-CN" sz="13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公式｜delta"/>
              <p:cNvSpPr txBox="1"/>
              <p:nvPr/>
            </p:nvSpPr>
            <p:spPr>
              <a:xfrm>
                <a:off x="8507507" y="2021681"/>
                <a:ext cx="1611312" cy="30003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1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𝛿</m:t>
                      </m:r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sSubSup>
                        <m:sSubSup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bSup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𝛥</m:t>
                          </m:r>
                          <m:r>
                            <m:rPr>
                              <m:nor/>
                            </m:rPr>
                            <a:rPr lang="en-US" sz="2100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lnIMPC</m:t>
                          </m:r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𝐶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100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in</m:t>
                          </m:r>
                        </m:sup>
                      </m:sSubSup>
                    </m:oMath>
                  </m:oMathPara>
                </a14:m>
                <a:endParaRPr lang="en-US" sz="2100">
                  <a:latin typeface="Cambria Math"/>
                </a:endParaRPr>
              </a:p>
            </p:txBody>
          </p:sp>
        </mc:Choice>
        <mc:Fallback>
          <p:sp>
            <p:nvSpPr>
              <p:cNvPr id="14" name="公式｜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507" y="2021681"/>
                <a:ext cx="1611312" cy="300037"/>
              </a:xfrm>
              <a:prstGeom prst="rect">
                <a:avLst/>
              </a:prstGeom>
              <a:blipFill>
                <a:blip r:embed="rId3"/>
                <a:stretch>
                  <a:fillRect l="-5303" t="-2041" r="-1136" b="-14286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公式｜nu"/>
              <p:cNvSpPr txBox="1"/>
              <p:nvPr/>
            </p:nvSpPr>
            <p:spPr>
              <a:xfrm>
                <a:off x="11992165" y="2080021"/>
                <a:ext cx="466724" cy="18335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1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𝜈</m:t>
                      </m:r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=1</m:t>
                      </m:r>
                    </m:oMath>
                  </m:oMathPara>
                </a14:m>
                <a:endParaRPr lang="en-US" sz="2100">
                  <a:latin typeface="Cambria Math"/>
                </a:endParaRPr>
              </a:p>
            </p:txBody>
          </p:sp>
        </mc:Choice>
        <mc:Fallback>
          <p:sp>
            <p:nvSpPr>
              <p:cNvPr id="15" name="公式｜nu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2165" y="2080021"/>
                <a:ext cx="466724" cy="183356"/>
              </a:xfrm>
              <a:prstGeom prst="rect">
                <a:avLst/>
              </a:prstGeom>
              <a:blipFill>
                <a:blip r:embed="rId4"/>
                <a:stretch>
                  <a:fillRect l="-38961" t="-20000" r="-32468" b="-56667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｜（基准）"/>
          <p:cNvSpPr txBox="1"/>
          <p:nvPr/>
        </p:nvSpPr>
        <p:spPr>
          <a:xfrm>
            <a:off x="12755880" y="2066543"/>
            <a:ext cx="978408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000000"/>
                </a:solidFill>
                <a:latin typeface="Times New Roman"/>
                <a:ea typeface="宋体"/>
              </a:rPr>
              <a:t>（基准）</a:t>
            </a:r>
            <a:endParaRPr lang="zh-CN" sz="13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公式｜d_candidate"/>
              <p:cNvSpPr txBox="1"/>
              <p:nvPr/>
            </p:nvSpPr>
            <p:spPr>
              <a:xfrm>
                <a:off x="8539575" y="2629582"/>
                <a:ext cx="1455737" cy="327818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1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1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accPr>
                            <m:e>
                              <m:r>
                                <a:rPr lang="en-US" sz="21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𝐶𝑚</m:t>
                          </m:r>
                        </m:sub>
                        <m:sup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𝑗</m:t>
                          </m:r>
                        </m:sup>
                      </m:sSubSup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100" i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exp</m:t>
                      </m:r>
                      <m:d>
                        <m:d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d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𝜈𝛿</m:t>
                          </m:r>
                        </m:e>
                      </m:d>
                    </m:oMath>
                  </m:oMathPara>
                </a14:m>
                <a:endParaRPr lang="en-US" sz="2100">
                  <a:latin typeface="Cambria Math"/>
                </a:endParaRPr>
              </a:p>
            </p:txBody>
          </p:sp>
        </mc:Choice>
        <mc:Fallback>
          <p:sp>
            <p:nvSpPr>
              <p:cNvPr id="17" name="公式｜d_candid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575" y="2629582"/>
                <a:ext cx="1455737" cy="327818"/>
              </a:xfrm>
              <a:prstGeom prst="rect">
                <a:avLst/>
              </a:prstGeom>
              <a:blipFill>
                <a:blip r:embed="rId5"/>
                <a:stretch>
                  <a:fillRect l="-10879" r="-6276" b="-1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公式｜xi_candidate"/>
              <p:cNvSpPr txBox="1"/>
              <p:nvPr/>
            </p:nvSpPr>
            <p:spPr>
              <a:xfrm>
                <a:off x="11689445" y="2632360"/>
                <a:ext cx="1639093" cy="322262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1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1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accPr>
                            <m:e>
                              <m:r>
                                <a:rPr lang="en-US" sz="21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𝜉</m:t>
                              </m:r>
                            </m:e>
                          </m:acc>
                        </m:e>
                        <m:sub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𝐶𝑚</m:t>
                          </m:r>
                        </m:sub>
                        <m:sup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𝑗</m:t>
                          </m:r>
                        </m:sup>
                      </m:sSubSup>
                      <m:r>
                        <a:rPr lang="en-US" sz="21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100" i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exp</m:t>
                      </m:r>
                      <m:d>
                        <m:dPr>
                          <m:ctrlP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dPr>
                        <m:e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−</m:t>
                          </m:r>
                          <m:r>
                            <a:rPr lang="en-US" sz="21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𝜈𝛿</m:t>
                          </m:r>
                        </m:e>
                      </m:d>
                    </m:oMath>
                  </m:oMathPara>
                </a14:m>
                <a:endParaRPr lang="en-US" sz="2100">
                  <a:latin typeface="Cambria Math"/>
                </a:endParaRPr>
              </a:p>
            </p:txBody>
          </p:sp>
        </mc:Choice>
        <mc:Fallback>
          <p:sp>
            <p:nvSpPr>
              <p:cNvPr id="18" name="公式｜xi_candid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9445" y="2632360"/>
                <a:ext cx="1639093" cy="322262"/>
              </a:xfrm>
              <a:prstGeom prst="rect">
                <a:avLst/>
              </a:prstGeom>
              <a:blipFill>
                <a:blip r:embed="rId6"/>
                <a:stretch>
                  <a:fillRect l="-9328" r="-5224" b="-1132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｜05"/>
          <p:cNvSpPr txBox="1"/>
          <p:nvPr/>
        </p:nvSpPr>
        <p:spPr>
          <a:xfrm>
            <a:off x="576072" y="3474720"/>
            <a:ext cx="47548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50" b="1">
                <a:solidFill>
                  <a:srgbClr val="000000"/>
                </a:solidFill>
                <a:latin typeface="Times New Roman"/>
                <a:ea typeface="宋体"/>
              </a:rPr>
              <a:t>05</a:t>
            </a:r>
            <a:endParaRPr lang="zh-CN" sz="2050"/>
          </a:p>
        </p:txBody>
      </p:sp>
      <p:sp>
        <p:nvSpPr>
          <p:cNvPr id="20" name="文字｜匹配两侧生产份额变化"/>
          <p:cNvSpPr txBox="1"/>
          <p:nvPr/>
        </p:nvSpPr>
        <p:spPr>
          <a:xfrm>
            <a:off x="1243584" y="3456432"/>
            <a:ext cx="5888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b="1">
                <a:solidFill>
                  <a:srgbClr val="000000"/>
                </a:solidFill>
                <a:latin typeface="Times New Roman"/>
                <a:ea typeface="宋体"/>
              </a:rPr>
              <a:t>匹配两侧生产份额变化</a:t>
            </a:r>
            <a:endParaRPr lang="zh-CN" sz="1950"/>
          </a:p>
        </p:txBody>
      </p:sp>
      <p:sp>
        <p:nvSpPr>
          <p:cNvPr id="21" name="文字｜将局部响应汇总为全国外资生产份额变化，"/>
          <p:cNvSpPr txBox="1"/>
          <p:nvPr/>
        </p:nvSpPr>
        <p:spPr>
          <a:xfrm>
            <a:off x="1243584" y="3877056"/>
            <a:ext cx="5870448" cy="10789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将局部响应汇总为全国外资生产份额变化，</a:t>
            </a:r>
            <a:endParaRPr lang="zh-CN" sz="155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与企业估计的变化比较。选择使两侧目标矩</a:t>
            </a:r>
            <a:endParaRPr lang="zh-CN" sz="155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平方偏差最小的候选值，得到该类改革对应的</a:t>
            </a:r>
            <a:endParaRPr lang="zh-CN" sz="155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全国制度型 MP 成本对数变化。</a:t>
            </a:r>
            <a:endParaRPr lang="zh-CN" sz="15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公式｜model_share"/>
              <p:cNvSpPr txBox="1"/>
              <p:nvPr/>
            </p:nvSpPr>
            <p:spPr>
              <a:xfrm>
                <a:off x="9748837" y="3466973"/>
                <a:ext cx="2265045" cy="920750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174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sz="174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pPr>
                        <m:e>
                          <m:r>
                            <a:rPr lang="en-US" sz="174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𝑀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1740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model</m:t>
                          </m:r>
                          <m:r>
                            <a:rPr lang="en-US" sz="174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,0</m:t>
                          </m:r>
                        </m:sup>
                      </m:sSup>
                      <m:r>
                        <a:rPr lang="en-US" sz="174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f>
                        <m:fPr>
                          <m:ctrlPr>
                            <a:rPr lang="en-US" sz="174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4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naryPr>
                            <m:sub>
                              <m:r>
                                <a:rPr lang="en-US" sz="174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74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74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𝑚</m:t>
                                  </m:r>
                                  <m:r>
                                    <a:rPr lang="en-US" sz="174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≠</m:t>
                                  </m:r>
                                  <m:r>
                                    <a:rPr lang="en-US" sz="174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𝐶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4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4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𝑛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𝑛𝐶𝑚</m:t>
                                          </m:r>
                                        </m:sub>
                                        <m:sup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,0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4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naryPr>
                            <m:sub>
                              <m:r>
                                <a:rPr lang="en-US" sz="174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𝑗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74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74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𝑚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4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4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𝑛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𝑛𝐶𝑚</m:t>
                                          </m:r>
                                        </m:sub>
                                        <m:sup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74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ea typeface="宋体"/>
                                            </a:rPr>
                                            <m:t>,0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1740">
                  <a:latin typeface="Cambria Math"/>
                </a:endParaRPr>
              </a:p>
            </p:txBody>
          </p:sp>
        </mc:Choice>
        <mc:Fallback>
          <p:sp>
            <p:nvSpPr>
              <p:cNvPr id="22" name="公式｜model_shar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8837" y="3466973"/>
                <a:ext cx="2265045" cy="920750"/>
              </a:xfrm>
              <a:prstGeom prst="rect">
                <a:avLst/>
              </a:prstGeom>
              <a:blipFill>
                <a:blip r:embed="rId7"/>
                <a:stretch>
                  <a:fillRect l="-13978" r="-11828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公式｜minimize"/>
              <p:cNvSpPr txBox="1"/>
              <p:nvPr/>
            </p:nvSpPr>
            <p:spPr>
              <a:xfrm>
                <a:off x="9126474" y="4581144"/>
                <a:ext cx="3509772" cy="44805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1882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sz="1882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pPr>
                        <m:e>
                          <m:r>
                            <a:rPr lang="en-US" sz="1882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𝛿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1882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∗</m:t>
                          </m:r>
                        </m:sup>
                      </m:sSup>
                      <m:r>
                        <a:rPr lang="en-US" sz="1882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limLow>
                        <m:limLowPr>
                          <m:ctrlPr>
                            <a:rPr lang="en-US" sz="1882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US" sz="1882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arg min</m:t>
                          </m:r>
                        </m:e>
                        <m:lim>
                          <m:r>
                            <a:rPr lang="en-US" sz="1882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𝛿</m:t>
                          </m:r>
                        </m:lim>
                      </m:limLow>
                      <m:sSup>
                        <m:sSupPr>
                          <m:ctrlPr>
                            <a:rPr lang="en-US" sz="188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82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dPr>
                            <m:e>
                              <m:r>
                                <a:rPr lang="en-US" sz="1882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𝛥</m:t>
                              </m:r>
                              <m:sSup>
                                <m:sSupPr>
                                  <m:ctrlP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sSupPr>
                                <m:e>
                                  <m: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882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model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</m:ctrlPr>
                                </m:dPr>
                                <m:e>
                                  <m: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𝛿</m:t>
                                  </m:r>
                                </m:e>
                              </m:d>
                              <m:r>
                                <a:rPr lang="en-US" sz="1882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82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宋体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82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82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𝛥</m:t>
                                      </m:r>
                                      <m:r>
                                        <a:rPr lang="en-US" sz="1882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宋体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sz="1882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micro</m:t>
                                  </m:r>
                                  <m: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,</m:t>
                                  </m:r>
                                  <m:r>
                                    <a:rPr lang="en-US" sz="1882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宋体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882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82">
                  <a:latin typeface="Cambria Math"/>
                </a:endParaRPr>
              </a:p>
            </p:txBody>
          </p:sp>
        </mc:Choice>
        <mc:Fallback>
          <p:sp>
            <p:nvSpPr>
              <p:cNvPr id="23" name="公式｜minimiz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474" y="4581144"/>
                <a:ext cx="3509772" cy="448056"/>
              </a:xfrm>
              <a:prstGeom prst="rect">
                <a:avLst/>
              </a:prstGeom>
              <a:blipFill>
                <a:blip r:embed="rId8"/>
                <a:stretch>
                  <a:fillRect l="-13542" t="-8219" r="-11806" b="-13699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｜06"/>
          <p:cNvSpPr txBox="1"/>
          <p:nvPr/>
        </p:nvSpPr>
        <p:spPr>
          <a:xfrm>
            <a:off x="576072" y="5349240"/>
            <a:ext cx="475488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50" b="1">
                <a:solidFill>
                  <a:srgbClr val="000000"/>
                </a:solidFill>
                <a:latin typeface="Times New Roman"/>
                <a:ea typeface="宋体"/>
              </a:rPr>
              <a:t>06</a:t>
            </a:r>
            <a:endParaRPr lang="zh-CN" sz="2050"/>
          </a:p>
        </p:txBody>
      </p:sp>
      <p:sp>
        <p:nvSpPr>
          <p:cNvPr id="25" name="文字｜转换为效率冲击，完整求解均衡"/>
          <p:cNvSpPr txBox="1"/>
          <p:nvPr/>
        </p:nvSpPr>
        <p:spPr>
          <a:xfrm>
            <a:off x="1243584" y="5330952"/>
            <a:ext cx="588873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50" b="1">
                <a:solidFill>
                  <a:srgbClr val="000000"/>
                </a:solidFill>
                <a:latin typeface="Times New Roman"/>
                <a:ea typeface="宋体"/>
              </a:rPr>
              <a:t>转换为效率冲击，完整求解均衡</a:t>
            </a:r>
            <a:endParaRPr lang="zh-CN" sz="1950"/>
          </a:p>
        </p:txBody>
      </p:sp>
      <p:sp>
        <p:nvSpPr>
          <p:cNvPr id="26" name="文字｜把反演出的成本变化转换为跨国生产效率冲击，"/>
          <p:cNvSpPr txBox="1"/>
          <p:nvPr/>
        </p:nvSpPr>
        <p:spPr>
          <a:xfrm>
            <a:off x="1243584" y="5751576"/>
            <a:ext cx="5870448" cy="10789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把反演出的成本变化转换为跨国生产效率冲击，</a:t>
            </a:r>
            <a:endParaRPr lang="zh-CN" sz="155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保持贸易成本不变，完整求解相对变化均衡。</a:t>
            </a:r>
            <a:endParaRPr lang="zh-CN" sz="155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此阶段允许生产、价格、投入产出需求、工资、</a:t>
            </a:r>
            <a:endParaRPr lang="zh-CN" sz="1550"/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0">
                <a:solidFill>
                  <a:srgbClr val="000000"/>
                </a:solidFill>
                <a:latin typeface="Times New Roman"/>
                <a:ea typeface="宋体"/>
              </a:rPr>
              <a:t>利润、创新与福利共同调整。</a:t>
            </a:r>
            <a:endParaRPr lang="zh-CN" sz="15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公式｜estimated_delta"/>
              <p:cNvSpPr txBox="1"/>
              <p:nvPr/>
            </p:nvSpPr>
            <p:spPr>
              <a:xfrm>
                <a:off x="8268342" y="5416129"/>
                <a:ext cx="1806178" cy="34170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05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</m:ctrlPr>
                        </m:sSupPr>
                        <m:e>
                          <m: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𝛿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050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∗</m:t>
                          </m:r>
                        </m:sup>
                      </m:sSup>
                      <m:r>
                        <a:rPr lang="en-US" sz="205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sSubSup>
                        <m:sSubSupPr>
                          <m:ctrlPr>
                            <a:rPr lang="en-US" sz="2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5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accPr>
                            <m:e>
                              <m:r>
                                <a:rPr lang="en-US" sz="205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𝛥</m:t>
                              </m:r>
                              <m:r>
                                <m:rPr>
                                  <m:nor/>
                                </m:rPr>
                                <a:rPr lang="en-US" sz="205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lnIMPC</m:t>
                              </m:r>
                            </m:e>
                          </m:acc>
                        </m:e>
                        <m:sub>
                          <m: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𝐶</m:t>
                          </m:r>
                          <m: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</m:t>
                          </m:r>
                          <m: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050" i="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in</m:t>
                          </m:r>
                          <m: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,</m:t>
                          </m:r>
                          <m:r>
                            <a:rPr lang="en-US" sz="205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2050">
                  <a:latin typeface="Cambria Math"/>
                </a:endParaRPr>
              </a:p>
            </p:txBody>
          </p:sp>
        </mc:Choice>
        <mc:Fallback>
          <p:sp>
            <p:nvSpPr>
              <p:cNvPr id="27" name="公式｜estimated_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342" y="5416129"/>
                <a:ext cx="1806178" cy="341709"/>
              </a:xfrm>
              <a:prstGeom prst="rect">
                <a:avLst/>
              </a:prstGeom>
              <a:blipFill>
                <a:blip r:embed="rId9"/>
                <a:stretch>
                  <a:fillRect l="-6061" t="-1754" r="-2357" b="-14035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｜反演得到的全国成本对数变化"/>
          <p:cNvSpPr txBox="1"/>
          <p:nvPr/>
        </p:nvSpPr>
        <p:spPr>
          <a:xfrm>
            <a:off x="10607040" y="5513832"/>
            <a:ext cx="3337560" cy="2103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000000"/>
                </a:solidFill>
                <a:latin typeface="Times New Roman"/>
                <a:ea typeface="宋体"/>
              </a:rPr>
              <a:t>反演得到的全国成本对数变化</a:t>
            </a:r>
            <a:endParaRPr lang="zh-CN" sz="133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公式｜shock_cases"/>
              <p:cNvSpPr txBox="1"/>
              <p:nvPr/>
            </p:nvSpPr>
            <p:spPr>
              <a:xfrm>
                <a:off x="8940112" y="6057773"/>
                <a:ext cx="3882495" cy="768350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lang="en-US" sz="220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</m:ctrlPr>
                            </m:accPr>
                            <m:e>
                              <m:r>
                                <a:rPr lang="en-US" sz="220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宋体"/>
                                </a:rPr>
                                <m:t>𝜉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𝑖𝑚</m:t>
                          </m:r>
                        </m:sub>
                        <m:sup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  <a:ea typeface="宋体"/>
                            </a:rPr>
                            <m:t>𝑗</m:t>
                          </m:r>
                        </m:sup>
                      </m:sSubSup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20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exp</m:t>
                                </m:r>
                                <m:d>
                                  <m:dPr>
                                    <m:ctrlPr>
                                      <a:rPr lang="en-US" sz="2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−</m:t>
                                    </m:r>
                                    <m:r>
                                      <a:rPr lang="en-US" sz="2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宋体"/>
                                      </a:rPr>
                                      <m:t>𝜈</m:t>
                                    </m:r>
                                    <m:sSup>
                                      <m:sSupPr>
                                        <m:ctrlPr>
                                          <a:rPr lang="en-US" sz="220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2200" i="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  <a:ea typeface="宋体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𝑖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=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𝐶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,  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𝑚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≠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𝐶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,  ∀</m:t>
                                </m:r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20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宋体"/>
                                  </a:rPr>
                                  <m:t>其他情形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>
                  <a:latin typeface="Cambria Math"/>
                </a:endParaRPr>
              </a:p>
            </p:txBody>
          </p:sp>
        </mc:Choice>
        <mc:Fallback>
          <p:sp>
            <p:nvSpPr>
              <p:cNvPr id="29" name="公式｜shock_cas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112" y="6057773"/>
                <a:ext cx="3882495" cy="768350"/>
              </a:xfrm>
              <a:prstGeom prst="rect">
                <a:avLst/>
              </a:prstGeom>
              <a:blipFill>
                <a:blip r:embed="rId10"/>
                <a:stretch>
                  <a:fillRect l="-20912" r="-19182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1412</Words>
  <Application>Microsoft Office PowerPoint</Application>
  <PresentationFormat>自定义</PresentationFormat>
  <Paragraphs>96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宋体</vt:lpstr>
      <vt:lpstr>Arial</vt:lpstr>
      <vt:lpstr>Calibri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企业层面识别与制度型 MP 成本反演：目标矩路线图</dc:title>
  <dc:subject>依据《企业微观层面(3).docx》附录A重绘；附可见文字说明和原生Office Math公式</dc:subject>
  <dc:creator/>
  <cp:keywords>外资准入；目标矩；微观识别；制度型MP成本；一般均衡；Office Math</cp:keywords>
  <dc:description>所有图形、连接线、文字与公式均为可编辑对象。</dc:description>
  <cp:lastModifiedBy>镇宇 杨</cp:lastModifiedBy>
  <cp:revision>10</cp:revision>
  <dcterms:created xsi:type="dcterms:W3CDTF">2013-01-27T09:14:16Z</dcterms:created>
  <dcterms:modified xsi:type="dcterms:W3CDTF">2026-09-16T07:55:43Z</dcterms:modified>
  <cp:category/>
</cp:coreProperties>
</file>